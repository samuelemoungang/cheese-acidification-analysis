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CC3856-4455-A2B7-367E-5F983B93B15E}" v="27" dt="2026-06-02T07:29:54.459"/>
    <p1510:client id="{8A94324D-AA4A-0F59-16B5-F42D6AFA4012}" v="81" dt="2026-06-01T22:55:52.6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 1 — 28/04 (rdt 12,17 %)</c:v>
                </c:pt>
              </c:strCache>
            </c:strRef>
          </c:tx>
          <c:spPr>
            <a:ln w="34925" cap="flat">
              <a:solidFill>
                <a:srgbClr val="C97B4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97B4A"/>
              </a:solidFill>
              <a:ln w="9525" cap="flat">
                <a:solidFill>
                  <a:srgbClr val="C97B4A"/>
                </a:solidFill>
                <a:prstDash val="solid"/>
                <a:round/>
              </a:ln>
              <a:effectLst/>
            </c:spPr>
          </c:marker>
          <c:cat>
            <c:strRef>
              <c:f>Sheet1!$A$2:$A$26</c:f>
              <c:strCache>
                <c:ptCount val="25"/>
                <c:pt idx="0">
                  <c:v>0.0</c:v>
                </c:pt>
                <c:pt idx="1">
                  <c:v>0.2</c:v>
                </c:pt>
                <c:pt idx="2">
                  <c:v>0.4</c:v>
                </c:pt>
                <c:pt idx="3">
                  <c:v>0.6</c:v>
                </c:pt>
                <c:pt idx="4">
                  <c:v>0.8</c:v>
                </c:pt>
                <c:pt idx="5">
                  <c:v>1.0</c:v>
                </c:pt>
                <c:pt idx="6">
                  <c:v>1.2</c:v>
                </c:pt>
                <c:pt idx="7">
                  <c:v>1.4</c:v>
                </c:pt>
                <c:pt idx="8">
                  <c:v>1.6</c:v>
                </c:pt>
                <c:pt idx="9">
                  <c:v>1.8</c:v>
                </c:pt>
                <c:pt idx="10">
                  <c:v>2.0</c:v>
                </c:pt>
                <c:pt idx="11">
                  <c:v>2.2</c:v>
                </c:pt>
                <c:pt idx="12">
                  <c:v>2.4</c:v>
                </c:pt>
                <c:pt idx="13">
                  <c:v>2.6</c:v>
                </c:pt>
                <c:pt idx="14">
                  <c:v>2.8</c:v>
                </c:pt>
                <c:pt idx="15">
                  <c:v>3.0</c:v>
                </c:pt>
                <c:pt idx="16">
                  <c:v>3.2</c:v>
                </c:pt>
                <c:pt idx="17">
                  <c:v>3.4</c:v>
                </c:pt>
                <c:pt idx="18">
                  <c:v>3.6</c:v>
                </c:pt>
                <c:pt idx="19">
                  <c:v>3.8</c:v>
                </c:pt>
                <c:pt idx="20">
                  <c:v>4.0</c:v>
                </c:pt>
                <c:pt idx="21">
                  <c:v>4.2</c:v>
                </c:pt>
                <c:pt idx="22">
                  <c:v>4.4</c:v>
                </c:pt>
                <c:pt idx="23">
                  <c:v>4.6</c:v>
                </c:pt>
                <c:pt idx="24">
                  <c:v>4.8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5.9329999999999998</c:v>
                </c:pt>
                <c:pt idx="1">
                  <c:v>5.9020000000000001</c:v>
                </c:pt>
                <c:pt idx="2">
                  <c:v>5.8659999999999997</c:v>
                </c:pt>
                <c:pt idx="3">
                  <c:v>5.8250000000000002</c:v>
                </c:pt>
                <c:pt idx="4">
                  <c:v>5.78</c:v>
                </c:pt>
                <c:pt idx="5">
                  <c:v>5.7320000000000002</c:v>
                </c:pt>
                <c:pt idx="6">
                  <c:v>5.68</c:v>
                </c:pt>
                <c:pt idx="7">
                  <c:v>5.625</c:v>
                </c:pt>
                <c:pt idx="8">
                  <c:v>5.57</c:v>
                </c:pt>
                <c:pt idx="9">
                  <c:v>5.5149999999999997</c:v>
                </c:pt>
                <c:pt idx="10">
                  <c:v>5.46</c:v>
                </c:pt>
                <c:pt idx="11">
                  <c:v>5.4080000000000004</c:v>
                </c:pt>
                <c:pt idx="12">
                  <c:v>5.36</c:v>
                </c:pt>
                <c:pt idx="13">
                  <c:v>5.3150000000000004</c:v>
                </c:pt>
                <c:pt idx="14">
                  <c:v>5.274</c:v>
                </c:pt>
                <c:pt idx="15">
                  <c:v>5.2380000000000004</c:v>
                </c:pt>
                <c:pt idx="16">
                  <c:v>5.2069999999999999</c:v>
                </c:pt>
                <c:pt idx="17">
                  <c:v>5.1790000000000003</c:v>
                </c:pt>
                <c:pt idx="18">
                  <c:v>5.1559999999999997</c:v>
                </c:pt>
                <c:pt idx="19">
                  <c:v>5.1360000000000001</c:v>
                </c:pt>
                <c:pt idx="20">
                  <c:v>5.1189999999999998</c:v>
                </c:pt>
                <c:pt idx="21">
                  <c:v>5.1050000000000004</c:v>
                </c:pt>
                <c:pt idx="22">
                  <c:v>5.093</c:v>
                </c:pt>
                <c:pt idx="23">
                  <c:v>5.0839999999999996</c:v>
                </c:pt>
                <c:pt idx="24">
                  <c:v>5.0759999999999996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F98A-4810-BF50-41BBDC7AE13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Session 2 — 05/05 (rdt 11,80 %)</c:v>
                </c:pt>
              </c:strCache>
            </c:strRef>
          </c:tx>
          <c:spPr>
            <a:ln w="34925" cap="flat">
              <a:solidFill>
                <a:srgbClr val="6B8E8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B8E80"/>
              </a:solidFill>
              <a:ln w="9525" cap="flat">
                <a:solidFill>
                  <a:srgbClr val="6B8E80"/>
                </a:solidFill>
                <a:prstDash val="solid"/>
                <a:round/>
              </a:ln>
              <a:effectLst/>
            </c:spPr>
          </c:marker>
          <c:cat>
            <c:strRef>
              <c:f>Sheet1!$A$2:$A$26</c:f>
              <c:strCache>
                <c:ptCount val="25"/>
                <c:pt idx="0">
                  <c:v>0.0</c:v>
                </c:pt>
                <c:pt idx="1">
                  <c:v>0.2</c:v>
                </c:pt>
                <c:pt idx="2">
                  <c:v>0.4</c:v>
                </c:pt>
                <c:pt idx="3">
                  <c:v>0.6</c:v>
                </c:pt>
                <c:pt idx="4">
                  <c:v>0.8</c:v>
                </c:pt>
                <c:pt idx="5">
                  <c:v>1.0</c:v>
                </c:pt>
                <c:pt idx="6">
                  <c:v>1.2</c:v>
                </c:pt>
                <c:pt idx="7">
                  <c:v>1.4</c:v>
                </c:pt>
                <c:pt idx="8">
                  <c:v>1.6</c:v>
                </c:pt>
                <c:pt idx="9">
                  <c:v>1.8</c:v>
                </c:pt>
                <c:pt idx="10">
                  <c:v>2.0</c:v>
                </c:pt>
                <c:pt idx="11">
                  <c:v>2.2</c:v>
                </c:pt>
                <c:pt idx="12">
                  <c:v>2.4</c:v>
                </c:pt>
                <c:pt idx="13">
                  <c:v>2.6</c:v>
                </c:pt>
                <c:pt idx="14">
                  <c:v>2.8</c:v>
                </c:pt>
                <c:pt idx="15">
                  <c:v>3.0</c:v>
                </c:pt>
                <c:pt idx="16">
                  <c:v>3.2</c:v>
                </c:pt>
                <c:pt idx="17">
                  <c:v>3.4</c:v>
                </c:pt>
                <c:pt idx="18">
                  <c:v>3.6</c:v>
                </c:pt>
                <c:pt idx="19">
                  <c:v>3.8</c:v>
                </c:pt>
                <c:pt idx="20">
                  <c:v>4.0</c:v>
                </c:pt>
                <c:pt idx="21">
                  <c:v>4.2</c:v>
                </c:pt>
                <c:pt idx="22">
                  <c:v>4.4</c:v>
                </c:pt>
                <c:pt idx="23">
                  <c:v>4.6</c:v>
                </c:pt>
                <c:pt idx="24">
                  <c:v>4.8</c:v>
                </c:pt>
              </c:strCache>
            </c:str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6.36</c:v>
                </c:pt>
                <c:pt idx="1">
                  <c:v>6.3369999999999997</c:v>
                </c:pt>
                <c:pt idx="2">
                  <c:v>6.306</c:v>
                </c:pt>
                <c:pt idx="3">
                  <c:v>6.266</c:v>
                </c:pt>
                <c:pt idx="4">
                  <c:v>6.2140000000000004</c:v>
                </c:pt>
                <c:pt idx="5">
                  <c:v>6.149</c:v>
                </c:pt>
                <c:pt idx="6">
                  <c:v>6.07</c:v>
                </c:pt>
                <c:pt idx="7">
                  <c:v>5.9790000000000001</c:v>
                </c:pt>
                <c:pt idx="8">
                  <c:v>5.8769999999999998</c:v>
                </c:pt>
                <c:pt idx="9">
                  <c:v>5.7709999999999999</c:v>
                </c:pt>
                <c:pt idx="10">
                  <c:v>5.665</c:v>
                </c:pt>
                <c:pt idx="11">
                  <c:v>5.5650000000000004</c:v>
                </c:pt>
                <c:pt idx="12">
                  <c:v>5.4770000000000003</c:v>
                </c:pt>
                <c:pt idx="13">
                  <c:v>5.4020000000000001</c:v>
                </c:pt>
                <c:pt idx="14">
                  <c:v>5.34</c:v>
                </c:pt>
                <c:pt idx="15">
                  <c:v>5.2919999999999998</c:v>
                </c:pt>
                <c:pt idx="16">
                  <c:v>5.2549999999999999</c:v>
                </c:pt>
                <c:pt idx="17">
                  <c:v>5.226</c:v>
                </c:pt>
                <c:pt idx="18">
                  <c:v>5.2050000000000001</c:v>
                </c:pt>
                <c:pt idx="19">
                  <c:v>5.19</c:v>
                </c:pt>
                <c:pt idx="20">
                  <c:v>5.1790000000000003</c:v>
                </c:pt>
                <c:pt idx="21">
                  <c:v>5.1710000000000003</c:v>
                </c:pt>
                <c:pt idx="22">
                  <c:v>5.165</c:v>
                </c:pt>
                <c:pt idx="23">
                  <c:v>5.1609999999999996</c:v>
                </c:pt>
                <c:pt idx="24">
                  <c:v>5.1580000000000004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F98A-4810-BF50-41BBDC7AE1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2B2A26"/>
                    </a:solidFill>
                    <a:latin typeface="Arial"/>
                  </a:defRPr>
                </a:pPr>
                <a:r>
                  <a:rPr lang="en-US" sz="1100" b="0" i="0" u="none" strike="noStrike">
                    <a:solidFill>
                      <a:srgbClr val="2B2A26"/>
                    </a:solidFill>
                    <a:latin typeface="Arial"/>
                  </a:rPr>
                  <a:t>Temps depuis le moulage (h)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6B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.5"/>
          <c:min val="5"/>
        </c:scaling>
        <c:delete val="0"/>
        <c:axPos val="l"/>
        <c:majorGridlines>
          <c:spPr>
            <a:ln w="6350" cap="flat">
              <a:solidFill>
                <a:srgbClr val="EEEAE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2B2A26"/>
                    </a:solidFill>
                    <a:latin typeface="Arial"/>
                  </a:defRPr>
                </a:pPr>
                <a:r>
                  <a:rPr lang="en-US" sz="1100" b="0" i="0" u="none" strike="noStrike">
                    <a:solidFill>
                      <a:srgbClr val="2B2A26"/>
                    </a:solidFill>
                    <a:latin typeface="Arial"/>
                  </a:rPr>
                  <a:t>pH (corrigé, sonde Hannah)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6B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B2A26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 w="12700" cap="flat">
      <a:solidFill>
        <a:srgbClr val="E0DDD5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8F05E6-EEDA-4668-9FCA-8ADE3543798D}" type="datetimeFigureOut">
              <a:t>6/5/2026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577399-14DD-4B12-A96F-29FA40007B9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159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1. </a:t>
            </a:r>
            <a:r>
              <a:rPr lang="en-US" b="1" dirty="0" err="1"/>
              <a:t>Allineamento</a:t>
            </a:r>
            <a:r>
              <a:rPr lang="en-US" b="1" dirty="0"/>
              <a:t> delle </a:t>
            </a:r>
            <a:r>
              <a:rPr lang="en-US" b="1" dirty="0" err="1"/>
              <a:t>frequenze</a:t>
            </a:r>
            <a:r>
              <a:rPr lang="en-US" dirty="0"/>
              <a:t> I </a:t>
            </a:r>
            <a:r>
              <a:rPr lang="en-US" dirty="0" err="1"/>
              <a:t>tre</a:t>
            </a:r>
            <a:r>
              <a:rPr lang="en-US" dirty="0"/>
              <a:t> logger </a:t>
            </a:r>
            <a:r>
              <a:rPr lang="en-US" dirty="0" err="1"/>
              <a:t>registrano</a:t>
            </a:r>
            <a:r>
              <a:rPr lang="en-US" dirty="0"/>
              <a:t> a </a:t>
            </a:r>
            <a:r>
              <a:rPr lang="en-US" dirty="0" err="1"/>
              <a:t>frequenze</a:t>
            </a:r>
            <a:r>
              <a:rPr lang="en-US" dirty="0"/>
              <a:t> diverse — il Server a ~1 s, </a:t>
            </a:r>
            <a:r>
              <a:rPr lang="en-US" dirty="0" err="1"/>
              <a:t>l'USB</a:t>
            </a:r>
            <a:r>
              <a:rPr lang="en-US" dirty="0"/>
              <a:t> a 1 min, la Hannah a 1 min. </a:t>
            </a:r>
            <a:r>
              <a:rPr lang="en-US" dirty="0" err="1"/>
              <a:t>Ricampionare</a:t>
            </a:r>
            <a:r>
              <a:rPr lang="en-US" dirty="0"/>
              <a:t> </a:t>
            </a:r>
            <a:r>
              <a:rPr lang="en-US" dirty="0" err="1"/>
              <a:t>tutto</a:t>
            </a:r>
            <a:r>
              <a:rPr lang="en-US" dirty="0"/>
              <a:t> a 1 </a:t>
            </a:r>
            <a:r>
              <a:rPr lang="en-US" dirty="0" err="1"/>
              <a:t>minuto</a:t>
            </a:r>
            <a:r>
              <a:rPr lang="en-US" dirty="0"/>
              <a:t> </a:t>
            </a:r>
            <a:r>
              <a:rPr lang="en-US" dirty="0" err="1"/>
              <a:t>crea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b="1" dirty="0" err="1"/>
              <a:t>griglia</a:t>
            </a:r>
            <a:r>
              <a:rPr lang="en-US" b="1" dirty="0"/>
              <a:t> </a:t>
            </a:r>
            <a:r>
              <a:rPr lang="en-US" b="1" dirty="0" err="1"/>
              <a:t>temporale</a:t>
            </a:r>
            <a:r>
              <a:rPr lang="en-US" b="1" dirty="0"/>
              <a:t> </a:t>
            </a:r>
            <a:r>
              <a:rPr lang="en-US" b="1" dirty="0" err="1"/>
              <a:t>comune</a:t>
            </a:r>
            <a:r>
              <a:rPr lang="en-US" dirty="0"/>
              <a:t> per </a:t>
            </a:r>
            <a:r>
              <a:rPr lang="en-US" dirty="0" err="1"/>
              <a:t>poter</a:t>
            </a:r>
            <a:r>
              <a:rPr lang="en-US" dirty="0"/>
              <a:t> </a:t>
            </a:r>
            <a:r>
              <a:rPr lang="en-US" dirty="0" err="1"/>
              <a:t>confrontarli</a:t>
            </a:r>
            <a:r>
              <a:rPr lang="en-US" dirty="0"/>
              <a:t> e fare il fit </a:t>
            </a:r>
            <a:r>
              <a:rPr lang="en-US" dirty="0" err="1"/>
              <a:t>congiunto</a:t>
            </a:r>
            <a:r>
              <a:rPr lang="en-US" dirty="0"/>
              <a:t>.</a:t>
            </a:r>
          </a:p>
          <a:p>
            <a:r>
              <a:rPr lang="en-US" b="1" dirty="0"/>
              <a:t>2. Mediana </a:t>
            </a:r>
            <a:r>
              <a:rPr lang="en-US" b="1" dirty="0" err="1"/>
              <a:t>invece</a:t>
            </a:r>
            <a:r>
              <a:rPr lang="en-US" b="1" dirty="0"/>
              <a:t> della media</a:t>
            </a:r>
            <a:r>
              <a:rPr lang="en-US" dirty="0"/>
              <a:t> La media è </a:t>
            </a:r>
            <a:r>
              <a:rPr lang="en-US" dirty="0" err="1"/>
              <a:t>sensibile</a:t>
            </a:r>
            <a:r>
              <a:rPr lang="en-US" dirty="0"/>
              <a:t> </a:t>
            </a:r>
            <a:r>
              <a:rPr lang="en-US" dirty="0" err="1"/>
              <a:t>agli</a:t>
            </a:r>
            <a:r>
              <a:rPr lang="en-US" dirty="0"/>
              <a:t> spike (come il pH 4.02 </a:t>
            </a:r>
            <a:r>
              <a:rPr lang="en-US" dirty="0" err="1"/>
              <a:t>dell'USB</a:t>
            </a:r>
            <a:r>
              <a:rPr lang="en-US" dirty="0"/>
              <a:t> a 14:18 in S1). La </a:t>
            </a:r>
            <a:r>
              <a:rPr lang="en-US" dirty="0" err="1"/>
              <a:t>mediana</a:t>
            </a:r>
            <a:r>
              <a:rPr lang="en-US" dirty="0"/>
              <a:t> </a:t>
            </a:r>
            <a:r>
              <a:rPr lang="en-US" b="1" dirty="0" err="1"/>
              <a:t>scarta</a:t>
            </a:r>
            <a:r>
              <a:rPr lang="en-US" b="1" dirty="0"/>
              <a:t> </a:t>
            </a:r>
            <a:r>
              <a:rPr lang="en-US" b="1" dirty="0" err="1"/>
              <a:t>automaticamente</a:t>
            </a:r>
            <a:r>
              <a:rPr lang="en-US" b="1" dirty="0"/>
              <a:t>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b="1" dirty="0" err="1"/>
              <a:t>valori</a:t>
            </a:r>
            <a:r>
              <a:rPr lang="en-US" b="1" dirty="0"/>
              <a:t> </a:t>
            </a:r>
            <a:r>
              <a:rPr lang="en-US" b="1" dirty="0" err="1"/>
              <a:t>anomali</a:t>
            </a:r>
            <a:r>
              <a:rPr lang="en-US" dirty="0"/>
              <a:t> </a:t>
            </a:r>
            <a:r>
              <a:rPr lang="en-US" dirty="0" err="1"/>
              <a:t>all'interno</a:t>
            </a:r>
            <a:r>
              <a:rPr lang="en-US" dirty="0"/>
              <a:t> della </a:t>
            </a:r>
            <a:r>
              <a:rPr lang="en-US" dirty="0" err="1"/>
              <a:t>finestra</a:t>
            </a:r>
            <a:r>
              <a:rPr lang="en-US" dirty="0"/>
              <a:t> di 1 </a:t>
            </a:r>
            <a:r>
              <a:rPr lang="en-US" dirty="0" err="1"/>
              <a:t>minuto</a:t>
            </a:r>
            <a:r>
              <a:rPr lang="en-US" dirty="0"/>
              <a:t> senza </a:t>
            </a:r>
            <a:r>
              <a:rPr lang="en-US" dirty="0" err="1"/>
              <a:t>bisogno</a:t>
            </a:r>
            <a:r>
              <a:rPr lang="en-US" dirty="0"/>
              <a:t> di </a:t>
            </a:r>
            <a:r>
              <a:rPr lang="en-US" dirty="0" err="1"/>
              <a:t>filtri</a:t>
            </a:r>
            <a:r>
              <a:rPr lang="en-US" dirty="0"/>
              <a:t> </a:t>
            </a:r>
            <a:r>
              <a:rPr lang="en-US" dirty="0" err="1"/>
              <a:t>aggiuntivi</a:t>
            </a:r>
            <a:r>
              <a:rPr lang="en-US" dirty="0"/>
              <a:t> — è un </a:t>
            </a:r>
            <a:r>
              <a:rPr lang="en-US" dirty="0" err="1"/>
              <a:t>robusto</a:t>
            </a:r>
            <a:r>
              <a:rPr lang="en-US" dirty="0"/>
              <a:t> </a:t>
            </a:r>
            <a:r>
              <a:rPr lang="en-US" dirty="0" err="1"/>
              <a:t>estimatore</a:t>
            </a:r>
            <a:r>
              <a:rPr lang="en-US" dirty="0"/>
              <a:t> di </a:t>
            </a:r>
            <a:r>
              <a:rPr lang="en-US" dirty="0" err="1"/>
              <a:t>posizione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r>
              <a:rPr lang="en-US" b="1" dirty="0"/>
              <a:t>3. Il Server ha ~60 </a:t>
            </a:r>
            <a:r>
              <a:rPr lang="en-US" b="1" dirty="0" err="1"/>
              <a:t>misure</a:t>
            </a:r>
            <a:r>
              <a:rPr lang="en-US" b="1" dirty="0"/>
              <a:t> per </a:t>
            </a:r>
            <a:r>
              <a:rPr lang="en-US" b="1" dirty="0" err="1"/>
              <a:t>minuto</a:t>
            </a:r>
            <a:r>
              <a:rPr lang="en-US" dirty="0"/>
              <a:t> Con ~1 s di </a:t>
            </a:r>
            <a:r>
              <a:rPr lang="en-US" dirty="0" err="1"/>
              <a:t>risoluzione</a:t>
            </a:r>
            <a:r>
              <a:rPr lang="en-US" dirty="0"/>
              <a:t>, il Server produce </a:t>
            </a:r>
            <a:r>
              <a:rPr lang="en-US" dirty="0" err="1"/>
              <a:t>rumore</a:t>
            </a:r>
            <a:r>
              <a:rPr lang="en-US" dirty="0"/>
              <a:t> ad </a:t>
            </a:r>
            <a:r>
              <a:rPr lang="en-US" dirty="0" err="1"/>
              <a:t>alta</a:t>
            </a:r>
            <a:r>
              <a:rPr lang="en-US" dirty="0"/>
              <a:t> </a:t>
            </a:r>
            <a:r>
              <a:rPr lang="en-US" dirty="0" err="1"/>
              <a:t>frequenza</a:t>
            </a:r>
            <a:r>
              <a:rPr lang="en-US" dirty="0"/>
              <a:t> (</a:t>
            </a:r>
            <a:r>
              <a:rPr lang="en-US" dirty="0" err="1"/>
              <a:t>oscillazioni</a:t>
            </a:r>
            <a:r>
              <a:rPr lang="en-US" dirty="0"/>
              <a:t> del </a:t>
            </a:r>
            <a:r>
              <a:rPr lang="en-US" dirty="0" err="1"/>
              <a:t>segnale</a:t>
            </a:r>
            <a:r>
              <a:rPr lang="en-US" dirty="0"/>
              <a:t> </a:t>
            </a:r>
            <a:r>
              <a:rPr lang="en-US" dirty="0" err="1"/>
              <a:t>elettronico</a:t>
            </a:r>
            <a:r>
              <a:rPr lang="en-US" dirty="0"/>
              <a:t>). La </a:t>
            </a:r>
            <a:r>
              <a:rPr lang="en-US" dirty="0" err="1"/>
              <a:t>mediana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60 </a:t>
            </a:r>
            <a:r>
              <a:rPr lang="en-US" dirty="0" err="1"/>
              <a:t>punti</a:t>
            </a:r>
            <a:r>
              <a:rPr lang="en-US" dirty="0"/>
              <a:t> per </a:t>
            </a:r>
            <a:r>
              <a:rPr lang="en-US" dirty="0" err="1"/>
              <a:t>minuto</a:t>
            </a:r>
            <a:r>
              <a:rPr lang="en-US" dirty="0"/>
              <a:t> lo </a:t>
            </a:r>
            <a:r>
              <a:rPr lang="en-US" b="1" dirty="0" err="1"/>
              <a:t>liscia</a:t>
            </a:r>
            <a:r>
              <a:rPr lang="en-US" b="1" dirty="0"/>
              <a:t> senza </a:t>
            </a:r>
            <a:r>
              <a:rPr lang="en-US" b="1" dirty="0" err="1"/>
              <a:t>distorcere</a:t>
            </a:r>
            <a:r>
              <a:rPr lang="en-US" b="1" dirty="0"/>
              <a:t> la </a:t>
            </a:r>
            <a:r>
              <a:rPr lang="en-US" b="1" dirty="0" err="1"/>
              <a:t>tendenza</a:t>
            </a:r>
            <a:r>
              <a:rPr lang="en-US" dirty="0"/>
              <a:t>, </a:t>
            </a:r>
            <a:r>
              <a:rPr lang="en-US" dirty="0" err="1"/>
              <a:t>equivalente</a:t>
            </a:r>
            <a:r>
              <a:rPr lang="en-US" dirty="0"/>
              <a:t> a un </a:t>
            </a:r>
            <a:r>
              <a:rPr lang="en-US" dirty="0" err="1"/>
              <a:t>filtro</a:t>
            </a:r>
            <a:r>
              <a:rPr lang="en-US" dirty="0"/>
              <a:t> </a:t>
            </a:r>
            <a:r>
              <a:rPr lang="en-US" dirty="0" err="1"/>
              <a:t>passa</a:t>
            </a:r>
            <a:r>
              <a:rPr lang="en-US" dirty="0"/>
              <a:t>-basso ma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robusto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In </a:t>
            </a:r>
            <a:r>
              <a:rPr lang="en-US" dirty="0" err="1"/>
              <a:t>sintesi</a:t>
            </a:r>
            <a:r>
              <a:rPr lang="en-US" dirty="0"/>
              <a:t>: la </a:t>
            </a:r>
            <a:r>
              <a:rPr lang="en-US" dirty="0" err="1"/>
              <a:t>scelta</a:t>
            </a:r>
            <a:r>
              <a:rPr lang="en-US" dirty="0"/>
              <a:t> </a:t>
            </a:r>
            <a:r>
              <a:rPr lang="en-US" dirty="0" err="1"/>
              <a:t>mediana</a:t>
            </a:r>
            <a:r>
              <a:rPr lang="en-US" dirty="0"/>
              <a:t> + 1 min è un </a:t>
            </a:r>
            <a:r>
              <a:rPr lang="en-US" dirty="0" err="1"/>
              <a:t>compromesso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b="1" dirty="0" err="1"/>
              <a:t>risoluzione</a:t>
            </a:r>
            <a:r>
              <a:rPr lang="en-US" b="1" dirty="0"/>
              <a:t> </a:t>
            </a:r>
            <a:r>
              <a:rPr lang="en-US" b="1" dirty="0" err="1"/>
              <a:t>temporale</a:t>
            </a:r>
            <a:r>
              <a:rPr lang="en-US" b="1" dirty="0"/>
              <a:t> </a:t>
            </a:r>
            <a:r>
              <a:rPr lang="en-US" b="1" dirty="0" err="1"/>
              <a:t>sufficiente</a:t>
            </a:r>
            <a:r>
              <a:rPr lang="en-US" b="1" dirty="0"/>
              <a:t> per il fit</a:t>
            </a:r>
            <a:r>
              <a:rPr lang="en-US" dirty="0"/>
              <a:t> (1 punto/min) e </a:t>
            </a:r>
            <a:r>
              <a:rPr lang="en-US" b="1" dirty="0" err="1"/>
              <a:t>robustezza</a:t>
            </a:r>
            <a:r>
              <a:rPr lang="en-US" b="1" dirty="0"/>
              <a:t> </a:t>
            </a:r>
            <a:r>
              <a:rPr lang="en-US" b="1" dirty="0" err="1"/>
              <a:t>agli</a:t>
            </a:r>
            <a:r>
              <a:rPr lang="en-US" b="1" dirty="0"/>
              <a:t> </a:t>
            </a:r>
            <a:r>
              <a:rPr lang="en-US" b="1" dirty="0" err="1"/>
              <a:t>artefatti</a:t>
            </a:r>
            <a:r>
              <a:rPr lang="en-US" dirty="0"/>
              <a:t> senza dover </a:t>
            </a:r>
            <a:r>
              <a:rPr lang="en-US" dirty="0" err="1"/>
              <a:t>applicare</a:t>
            </a:r>
            <a:r>
              <a:rPr lang="en-US" dirty="0"/>
              <a:t> </a:t>
            </a:r>
            <a:r>
              <a:rPr lang="en-US" dirty="0" err="1"/>
              <a:t>filtri</a:t>
            </a:r>
            <a:r>
              <a:rPr lang="en-US" dirty="0"/>
              <a:t> </a:t>
            </a:r>
            <a:r>
              <a:rPr lang="en-US" dirty="0" err="1"/>
              <a:t>separati</a:t>
            </a:r>
            <a:r>
              <a:rPr lang="en-US" dirty="0"/>
              <a:t> a ogni </a:t>
            </a:r>
            <a:r>
              <a:rPr lang="en-US" dirty="0" err="1"/>
              <a:t>sonda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b="1" dirty="0" err="1"/>
              <a:t>Correzione</a:t>
            </a:r>
            <a:r>
              <a:rPr lang="en-US" b="1" dirty="0"/>
              <a:t> di Nernst</a:t>
            </a:r>
            <a:endParaRPr lang="en-US" dirty="0"/>
          </a:p>
          <a:p>
            <a:r>
              <a:rPr lang="en-US" dirty="0"/>
              <a:t>Una </a:t>
            </a:r>
            <a:r>
              <a:rPr lang="en-US" dirty="0" err="1"/>
              <a:t>sonda</a:t>
            </a:r>
            <a:r>
              <a:rPr lang="en-US" dirty="0"/>
              <a:t> pH è in </a:t>
            </a:r>
            <a:r>
              <a:rPr lang="en-US" dirty="0" err="1"/>
              <a:t>realtà</a:t>
            </a:r>
            <a:r>
              <a:rPr lang="en-US" dirty="0"/>
              <a:t> un </a:t>
            </a:r>
            <a:r>
              <a:rPr lang="en-US" dirty="0" err="1"/>
              <a:t>voltmetro</a:t>
            </a:r>
            <a:r>
              <a:rPr lang="en-US" dirty="0"/>
              <a:t> — </a:t>
            </a:r>
            <a:r>
              <a:rPr lang="en-US" dirty="0" err="1"/>
              <a:t>misura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tensione</a:t>
            </a:r>
            <a:r>
              <a:rPr lang="en-US" dirty="0"/>
              <a:t> </a:t>
            </a:r>
            <a:r>
              <a:rPr lang="en-US" dirty="0" err="1"/>
              <a:t>elettrica</a:t>
            </a:r>
            <a:r>
              <a:rPr lang="en-US" dirty="0"/>
              <a:t> e la </a:t>
            </a:r>
            <a:r>
              <a:rPr lang="en-US" dirty="0" err="1"/>
              <a:t>converte</a:t>
            </a:r>
            <a:r>
              <a:rPr lang="en-US" dirty="0"/>
              <a:t> in </a:t>
            </a:r>
            <a:r>
              <a:rPr lang="en-US" dirty="0" err="1"/>
              <a:t>pH.</a:t>
            </a:r>
            <a:r>
              <a:rPr lang="en-US" dirty="0"/>
              <a:t> Il </a:t>
            </a:r>
            <a:r>
              <a:rPr lang="en-US" dirty="0" err="1"/>
              <a:t>problema</a:t>
            </a:r>
            <a:r>
              <a:rPr lang="en-US" dirty="0"/>
              <a:t> è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questa</a:t>
            </a:r>
            <a:r>
              <a:rPr lang="en-US" dirty="0"/>
              <a:t> </a:t>
            </a:r>
            <a:r>
              <a:rPr lang="en-US" dirty="0" err="1"/>
              <a:t>conversione</a:t>
            </a:r>
            <a:r>
              <a:rPr lang="en-US" dirty="0"/>
              <a:t> </a:t>
            </a:r>
            <a:r>
              <a:rPr lang="en-US" b="1" dirty="0" err="1"/>
              <a:t>dipende</a:t>
            </a:r>
            <a:r>
              <a:rPr lang="en-US" b="1" dirty="0"/>
              <a:t> </a:t>
            </a:r>
            <a:r>
              <a:rPr lang="en-US" b="1" dirty="0" err="1"/>
              <a:t>dalla</a:t>
            </a:r>
            <a:r>
              <a:rPr lang="en-US" b="1" dirty="0"/>
              <a:t> </a:t>
            </a:r>
            <a:r>
              <a:rPr lang="en-US" b="1" dirty="0" err="1"/>
              <a:t>temperatura</a:t>
            </a:r>
            <a:r>
              <a:rPr lang="en-US" dirty="0"/>
              <a:t>: se la </a:t>
            </a:r>
            <a:r>
              <a:rPr lang="en-US" dirty="0" err="1"/>
              <a:t>sonda</a:t>
            </a:r>
            <a:r>
              <a:rPr lang="en-US" dirty="0"/>
              <a:t> è </a:t>
            </a:r>
            <a:r>
              <a:rPr lang="en-US" dirty="0" err="1"/>
              <a:t>stata</a:t>
            </a:r>
            <a:r>
              <a:rPr lang="en-US" dirty="0"/>
              <a:t> </a:t>
            </a:r>
            <a:r>
              <a:rPr lang="en-US" dirty="0" err="1"/>
              <a:t>calibrata</a:t>
            </a:r>
            <a:r>
              <a:rPr lang="en-US" dirty="0"/>
              <a:t> a 25°C ma </a:t>
            </a:r>
            <a:r>
              <a:rPr lang="en-US" dirty="0" err="1"/>
              <a:t>misura</a:t>
            </a:r>
            <a:r>
              <a:rPr lang="en-US" dirty="0"/>
              <a:t> </a:t>
            </a:r>
            <a:r>
              <a:rPr lang="en-US" dirty="0" err="1"/>
              <a:t>dentro</a:t>
            </a:r>
            <a:r>
              <a:rPr lang="en-US" dirty="0"/>
              <a:t> il </a:t>
            </a:r>
            <a:r>
              <a:rPr lang="en-US" dirty="0" err="1"/>
              <a:t>formaggio</a:t>
            </a:r>
            <a:r>
              <a:rPr lang="en-US" dirty="0"/>
              <a:t> a 35°C, il </a:t>
            </a:r>
            <a:r>
              <a:rPr lang="en-US" dirty="0" err="1"/>
              <a:t>valore</a:t>
            </a:r>
            <a:r>
              <a:rPr lang="en-US" dirty="0"/>
              <a:t> </a:t>
            </a:r>
            <a:r>
              <a:rPr lang="en-US" dirty="0" err="1"/>
              <a:t>mostrato</a:t>
            </a:r>
            <a:r>
              <a:rPr lang="en-US" dirty="0"/>
              <a:t> è </a:t>
            </a:r>
            <a:r>
              <a:rPr lang="en-US" dirty="0" err="1"/>
              <a:t>leggermente</a:t>
            </a:r>
            <a:r>
              <a:rPr lang="en-US" dirty="0"/>
              <a:t> </a:t>
            </a:r>
            <a:r>
              <a:rPr lang="en-US" dirty="0" err="1"/>
              <a:t>sbagliato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La </a:t>
            </a:r>
            <a:r>
              <a:rPr lang="en-US" dirty="0" err="1"/>
              <a:t>correzione</a:t>
            </a:r>
            <a:r>
              <a:rPr lang="en-US" dirty="0"/>
              <a:t> di Nernst </a:t>
            </a:r>
            <a:r>
              <a:rPr lang="en-US" dirty="0" err="1"/>
              <a:t>aggiusta</a:t>
            </a:r>
            <a:r>
              <a:rPr lang="en-US" dirty="0"/>
              <a:t> </a:t>
            </a:r>
            <a:r>
              <a:rPr lang="en-US" dirty="0" err="1"/>
              <a:t>quel</a:t>
            </a:r>
            <a:r>
              <a:rPr lang="en-US" dirty="0"/>
              <a:t> </a:t>
            </a:r>
            <a:r>
              <a:rPr lang="en-US" dirty="0" err="1"/>
              <a:t>valore</a:t>
            </a:r>
            <a:r>
              <a:rPr lang="en-US" dirty="0"/>
              <a:t> </a:t>
            </a:r>
            <a:r>
              <a:rPr lang="en-US" dirty="0" err="1"/>
              <a:t>tenendo</a:t>
            </a:r>
            <a:r>
              <a:rPr lang="en-US" dirty="0"/>
              <a:t> </a:t>
            </a:r>
            <a:r>
              <a:rPr lang="en-US" dirty="0" err="1"/>
              <a:t>conto</a:t>
            </a:r>
            <a:r>
              <a:rPr lang="en-US" dirty="0"/>
              <a:t> della </a:t>
            </a:r>
            <a:r>
              <a:rPr lang="en-US" dirty="0" err="1"/>
              <a:t>differenza</a:t>
            </a:r>
            <a:r>
              <a:rPr lang="en-US" dirty="0"/>
              <a:t> di </a:t>
            </a:r>
            <a:r>
              <a:rPr lang="en-US" dirty="0" err="1"/>
              <a:t>temperatura</a:t>
            </a:r>
            <a:r>
              <a:rPr lang="en-US" dirty="0"/>
              <a:t>, </a:t>
            </a:r>
            <a:r>
              <a:rPr lang="en-US" dirty="0" err="1"/>
              <a:t>usando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formula </a:t>
            </a:r>
            <a:r>
              <a:rPr lang="en-US" dirty="0" err="1"/>
              <a:t>fisica</a:t>
            </a:r>
            <a:r>
              <a:rPr lang="en-US" dirty="0"/>
              <a:t> </a:t>
            </a:r>
            <a:r>
              <a:rPr lang="en-US" dirty="0" err="1"/>
              <a:t>precisa</a:t>
            </a:r>
            <a:r>
              <a:rPr lang="en-US" dirty="0"/>
              <a:t>. Hannah lo fa </a:t>
            </a:r>
            <a:r>
              <a:rPr lang="en-US" dirty="0" err="1"/>
              <a:t>automaticamente</a:t>
            </a:r>
            <a:r>
              <a:rPr lang="en-US" dirty="0"/>
              <a:t> (ha un </a:t>
            </a:r>
            <a:r>
              <a:rPr lang="en-US" dirty="0" err="1"/>
              <a:t>sensore</a:t>
            </a:r>
            <a:r>
              <a:rPr lang="en-US" dirty="0"/>
              <a:t> di </a:t>
            </a:r>
            <a:r>
              <a:rPr lang="en-US" dirty="0" err="1"/>
              <a:t>temperatura</a:t>
            </a:r>
            <a:r>
              <a:rPr lang="en-US" dirty="0"/>
              <a:t> </a:t>
            </a:r>
            <a:r>
              <a:rPr lang="en-US" dirty="0" err="1"/>
              <a:t>interno</a:t>
            </a:r>
            <a:r>
              <a:rPr lang="en-US" dirty="0"/>
              <a:t>), USB e Server no — </a:t>
            </a:r>
            <a:r>
              <a:rPr lang="en-US" dirty="0" err="1"/>
              <a:t>quindi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assume 35°C e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corregge</a:t>
            </a:r>
            <a:r>
              <a:rPr lang="en-US" dirty="0"/>
              <a:t> </a:t>
            </a:r>
            <a:r>
              <a:rPr lang="en-US" dirty="0" err="1"/>
              <a:t>manualmente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Cosa </a:t>
            </a:r>
            <a:r>
              <a:rPr lang="en-US" b="1" dirty="0" err="1"/>
              <a:t>dicono</a:t>
            </a:r>
            <a:r>
              <a:rPr lang="en-US" b="1" dirty="0"/>
              <a:t> </a:t>
            </a:r>
            <a:r>
              <a:rPr lang="en-US" b="1" dirty="0" err="1"/>
              <a:t>i</a:t>
            </a:r>
            <a:r>
              <a:rPr lang="en-US" b="1" dirty="0"/>
              <a:t> numeri a </a:t>
            </a:r>
            <a:r>
              <a:rPr lang="en-US" b="1" dirty="0" err="1"/>
              <a:t>destra</a:t>
            </a:r>
            <a:endParaRPr lang="en-US" dirty="0" err="1"/>
          </a:p>
          <a:p>
            <a:pPr marL="171450" indent="-171450">
              <a:buFont typeface="Arial"/>
              <a:buChar char="•"/>
            </a:pPr>
            <a:r>
              <a:rPr lang="en-US" b="1" dirty="0" err="1"/>
              <a:t>ΔpH</a:t>
            </a:r>
            <a:r>
              <a:rPr lang="en-US" b="1" dirty="0"/>
              <a:t> total</a:t>
            </a:r>
            <a:r>
              <a:rPr lang="en-US" dirty="0"/>
              <a:t> — S2 ha </a:t>
            </a:r>
            <a:r>
              <a:rPr lang="en-US" dirty="0" err="1"/>
              <a:t>avuto</a:t>
            </a:r>
            <a:r>
              <a:rPr lang="en-US" dirty="0"/>
              <a:t> un calo di pH </a:t>
            </a:r>
            <a:r>
              <a:rPr lang="en-US" dirty="0" err="1"/>
              <a:t>più</a:t>
            </a:r>
            <a:r>
              <a:rPr lang="en-US" dirty="0"/>
              <a:t> grande (1,27 vs 0,89):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batteri</a:t>
            </a:r>
            <a:r>
              <a:rPr lang="en-US" dirty="0"/>
              <a:t> </a:t>
            </a:r>
            <a:r>
              <a:rPr lang="en-US" dirty="0" err="1"/>
              <a:t>hanno</a:t>
            </a:r>
            <a:r>
              <a:rPr lang="en-US" dirty="0"/>
              <a:t> </a:t>
            </a:r>
            <a:r>
              <a:rPr lang="en-US" dirty="0" err="1"/>
              <a:t>lavorato</a:t>
            </a:r>
            <a:r>
              <a:rPr lang="en-US" dirty="0"/>
              <a:t> di </a:t>
            </a:r>
            <a:r>
              <a:rPr lang="en-US" dirty="0" err="1"/>
              <a:t>più</a:t>
            </a:r>
            <a:r>
              <a:rPr lang="en-US" dirty="0"/>
              <a:t> in </a:t>
            </a:r>
            <a:r>
              <a:rPr lang="en-US" dirty="0" err="1"/>
              <a:t>totale</a:t>
            </a:r>
            <a:r>
              <a:rPr lang="en-US" dirty="0"/>
              <a:t>.</a:t>
            </a:r>
          </a:p>
          <a:p>
            <a:pPr marL="171450" indent="-171450">
              <a:buFont typeface="Arial"/>
              <a:buChar char="•"/>
            </a:pPr>
            <a:r>
              <a:rPr lang="en-US" b="1" dirty="0"/>
              <a:t>t → pH 5,5 e 5,3</a:t>
            </a:r>
            <a:r>
              <a:rPr lang="en-US" dirty="0"/>
              <a:t> — S2 ci ha </a:t>
            </a:r>
            <a:r>
              <a:rPr lang="en-US" dirty="0" err="1"/>
              <a:t>messo</a:t>
            </a:r>
            <a:r>
              <a:rPr lang="en-US" dirty="0"/>
              <a:t> molto </a:t>
            </a:r>
            <a:r>
              <a:rPr lang="en-US" dirty="0" err="1"/>
              <a:t>più</a:t>
            </a:r>
            <a:r>
              <a:rPr lang="en-US" dirty="0"/>
              <a:t> tempo ad </a:t>
            </a:r>
            <a:r>
              <a:rPr lang="en-US" dirty="0" err="1"/>
              <a:t>arrivare</a:t>
            </a:r>
            <a:r>
              <a:rPr lang="en-US" dirty="0"/>
              <a:t> </a:t>
            </a:r>
            <a:r>
              <a:rPr lang="en-US" dirty="0" err="1"/>
              <a:t>agli</a:t>
            </a:r>
            <a:r>
              <a:rPr lang="en-US" dirty="0"/>
              <a:t> </a:t>
            </a:r>
            <a:r>
              <a:rPr lang="en-US" dirty="0" err="1"/>
              <a:t>stessi</a:t>
            </a:r>
            <a:r>
              <a:rPr lang="en-US" dirty="0"/>
              <a:t> pH </a:t>
            </a:r>
            <a:r>
              <a:rPr lang="en-US" dirty="0" err="1"/>
              <a:t>soglia</a:t>
            </a:r>
            <a:r>
              <a:rPr lang="en-US" dirty="0"/>
              <a:t>. Per </a:t>
            </a:r>
            <a:r>
              <a:rPr lang="en-US" dirty="0" err="1"/>
              <a:t>esempio</a:t>
            </a:r>
            <a:r>
              <a:rPr lang="en-US" dirty="0"/>
              <a:t> pH 5,5 </a:t>
            </a:r>
            <a:r>
              <a:rPr lang="en-US" dirty="0" err="1"/>
              <a:t>raggiunto</a:t>
            </a:r>
            <a:r>
              <a:rPr lang="en-US" dirty="0"/>
              <a:t> a 1,38h in S1 </a:t>
            </a:r>
            <a:r>
              <a:rPr lang="en-US" dirty="0" err="1"/>
              <a:t>contro</a:t>
            </a:r>
            <a:r>
              <a:rPr lang="en-US" dirty="0"/>
              <a:t> 2,18h in S2. I ferments di S2 </a:t>
            </a:r>
            <a:r>
              <a:rPr lang="en-US" dirty="0" err="1"/>
              <a:t>erano</a:t>
            </a:r>
            <a:r>
              <a:rPr lang="en-US" dirty="0"/>
              <a:t>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lenti</a:t>
            </a:r>
            <a:r>
              <a:rPr lang="en-US" dirty="0"/>
              <a:t>.</a:t>
            </a:r>
          </a:p>
          <a:p>
            <a:pPr marL="171450" indent="-171450">
              <a:buFont typeface="Arial"/>
              <a:buChar char="•"/>
            </a:pPr>
            <a:r>
              <a:rPr lang="en-US" b="1" dirty="0"/>
              <a:t>Vitesse max</a:t>
            </a:r>
            <a:r>
              <a:rPr lang="en-US" dirty="0"/>
              <a:t> — quasi </a:t>
            </a:r>
            <a:r>
              <a:rPr lang="en-US" dirty="0" err="1"/>
              <a:t>uguale</a:t>
            </a:r>
            <a:r>
              <a:rPr lang="en-US" dirty="0"/>
              <a:t> (21,3 vs 22,2): </a:t>
            </a:r>
            <a:r>
              <a:rPr lang="en-US" dirty="0" err="1"/>
              <a:t>quando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batteri</a:t>
            </a:r>
            <a:r>
              <a:rPr lang="en-US" dirty="0"/>
              <a:t> </a:t>
            </a:r>
            <a:r>
              <a:rPr lang="en-US" dirty="0" err="1"/>
              <a:t>erano</a:t>
            </a:r>
            <a:r>
              <a:rPr lang="en-US" dirty="0"/>
              <a:t> al loro </a:t>
            </a:r>
            <a:r>
              <a:rPr lang="en-US" dirty="0" err="1"/>
              <a:t>picco</a:t>
            </a:r>
            <a:r>
              <a:rPr lang="en-US" dirty="0"/>
              <a:t>, </a:t>
            </a:r>
            <a:r>
              <a:rPr lang="en-US" dirty="0" err="1"/>
              <a:t>lavoravano</a:t>
            </a:r>
            <a:r>
              <a:rPr lang="en-US" dirty="0"/>
              <a:t> alla </a:t>
            </a:r>
            <a:r>
              <a:rPr lang="en-US" dirty="0" err="1"/>
              <a:t>stessa</a:t>
            </a:r>
            <a:r>
              <a:rPr lang="en-US" dirty="0"/>
              <a:t> </a:t>
            </a:r>
            <a:r>
              <a:rPr lang="en-US" dirty="0" err="1"/>
              <a:t>velocità</a:t>
            </a:r>
            <a:r>
              <a:rPr lang="en-US" dirty="0"/>
              <a:t> in </a:t>
            </a:r>
            <a:r>
              <a:rPr lang="en-US" dirty="0" err="1"/>
              <a:t>entrambe</a:t>
            </a:r>
            <a:r>
              <a:rPr lang="en-US" dirty="0"/>
              <a:t> le </a:t>
            </a:r>
            <a:r>
              <a:rPr lang="en-US" dirty="0" err="1"/>
              <a:t>sessioni</a:t>
            </a:r>
            <a:r>
              <a:rPr lang="en-US" dirty="0"/>
              <a:t>. La </a:t>
            </a:r>
            <a:r>
              <a:rPr lang="en-US" dirty="0" err="1"/>
              <a:t>differenza</a:t>
            </a:r>
            <a:r>
              <a:rPr lang="en-US" dirty="0"/>
              <a:t> non è </a:t>
            </a:r>
            <a:r>
              <a:rPr lang="en-US" dirty="0" err="1"/>
              <a:t>nell'intensità</a:t>
            </a:r>
            <a:r>
              <a:rPr lang="en-US" dirty="0"/>
              <a:t> </a:t>
            </a:r>
            <a:r>
              <a:rPr lang="en-US" dirty="0" err="1"/>
              <a:t>massima</a:t>
            </a:r>
            <a:r>
              <a:rPr lang="en-US" dirty="0"/>
              <a:t>, ma </a:t>
            </a:r>
            <a:r>
              <a:rPr lang="en-US" dirty="0" err="1"/>
              <a:t>nel</a:t>
            </a:r>
            <a:r>
              <a:rPr lang="en-US" dirty="0"/>
              <a:t> </a:t>
            </a:r>
            <a:r>
              <a:rPr lang="en-US" b="1" dirty="0" err="1"/>
              <a:t>quando</a:t>
            </a:r>
            <a:r>
              <a:rPr lang="en-US" dirty="0"/>
              <a:t> è </a:t>
            </a:r>
            <a:r>
              <a:rPr lang="en-US" dirty="0" err="1"/>
              <a:t>arrivato</a:t>
            </a:r>
            <a:r>
              <a:rPr lang="en-US" dirty="0"/>
              <a:t> </a:t>
            </a:r>
            <a:r>
              <a:rPr lang="en-US" dirty="0" err="1"/>
              <a:t>quel</a:t>
            </a:r>
            <a:r>
              <a:rPr lang="en-US" dirty="0"/>
              <a:t> </a:t>
            </a:r>
            <a:r>
              <a:rPr lang="en-US" dirty="0" err="1"/>
              <a:t>picco</a:t>
            </a:r>
            <a:r>
              <a:rPr lang="en-US" dirty="0"/>
              <a:t>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 dirty="0"/>
            </a:br>
            <a:endParaRPr lang="en-US"/>
          </a:p>
          <a:p>
            <a:r>
              <a:rPr lang="en-US" b="1" dirty="0"/>
              <a:t>L — il </a:t>
            </a:r>
            <a:r>
              <a:rPr lang="en-US" b="1" dirty="0" err="1"/>
              <a:t>pavimento</a:t>
            </a:r>
            <a:endParaRPr lang="en-US" dirty="0" err="1"/>
          </a:p>
          <a:p>
            <a:r>
              <a:rPr lang="en-US" dirty="0"/>
              <a:t>È il pH </a:t>
            </a:r>
            <a:r>
              <a:rPr lang="en-US" dirty="0" err="1"/>
              <a:t>più</a:t>
            </a:r>
            <a:r>
              <a:rPr lang="en-US" dirty="0"/>
              <a:t> basso </a:t>
            </a:r>
            <a:r>
              <a:rPr lang="en-US" dirty="0" err="1"/>
              <a:t>che</a:t>
            </a:r>
            <a:r>
              <a:rPr lang="en-US" dirty="0"/>
              <a:t> il </a:t>
            </a:r>
            <a:r>
              <a:rPr lang="en-US" dirty="0" err="1"/>
              <a:t>formaggio</a:t>
            </a:r>
            <a:r>
              <a:rPr lang="en-US" dirty="0"/>
              <a:t> </a:t>
            </a:r>
            <a:r>
              <a:rPr lang="en-US" dirty="0" err="1"/>
              <a:t>raggiungerà</a:t>
            </a:r>
            <a:r>
              <a:rPr lang="en-US" dirty="0"/>
              <a:t>, </a:t>
            </a:r>
            <a:r>
              <a:rPr lang="en-US" dirty="0" err="1"/>
              <a:t>cioè</a:t>
            </a:r>
            <a:r>
              <a:rPr lang="en-US" dirty="0"/>
              <a:t> dove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ferma</a:t>
            </a:r>
            <a:r>
              <a:rPr lang="en-US" dirty="0"/>
              <a:t> lo </a:t>
            </a:r>
            <a:r>
              <a:rPr lang="en-US" dirty="0" err="1"/>
              <a:t>scivolo</a:t>
            </a:r>
            <a:r>
              <a:rPr lang="en-US" dirty="0"/>
              <a:t>. S1 </a:t>
            </a:r>
            <a:r>
              <a:rPr lang="en-US" dirty="0" err="1"/>
              <a:t>arriva</a:t>
            </a:r>
            <a:r>
              <a:rPr lang="en-US" dirty="0"/>
              <a:t> a </a:t>
            </a:r>
            <a:r>
              <a:rPr lang="en-US" b="1" dirty="0"/>
              <a:t>5,078</a:t>
            </a:r>
            <a:r>
              <a:rPr lang="en-US" dirty="0"/>
              <a:t> (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acido</a:t>
            </a:r>
            <a:r>
              <a:rPr lang="en-US" dirty="0"/>
              <a:t>), S2 a </a:t>
            </a:r>
            <a:r>
              <a:rPr lang="en-US" b="1" dirty="0"/>
              <a:t>5,196</a:t>
            </a:r>
            <a:r>
              <a:rPr lang="en-US" dirty="0"/>
              <a:t> (un po' </a:t>
            </a:r>
            <a:r>
              <a:rPr lang="en-US" dirty="0" err="1"/>
              <a:t>meno</a:t>
            </a:r>
            <a:r>
              <a:rPr lang="en-US" dirty="0"/>
              <a:t> </a:t>
            </a:r>
            <a:r>
              <a:rPr lang="en-US" dirty="0" err="1"/>
              <a:t>acido</a:t>
            </a:r>
            <a:r>
              <a:rPr lang="en-US" dirty="0"/>
              <a:t>). Un L </a:t>
            </a:r>
            <a:r>
              <a:rPr lang="en-US" dirty="0" err="1"/>
              <a:t>più</a:t>
            </a:r>
            <a:r>
              <a:rPr lang="en-US" dirty="0"/>
              <a:t> basso </a:t>
            </a:r>
            <a:r>
              <a:rPr lang="en-US" dirty="0" err="1"/>
              <a:t>significa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pasta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acidificata</a:t>
            </a:r>
            <a:r>
              <a:rPr lang="en-US" dirty="0"/>
              <a:t> → </a:t>
            </a:r>
            <a:r>
              <a:rPr lang="en-US" dirty="0" err="1"/>
              <a:t>diversa</a:t>
            </a:r>
            <a:r>
              <a:rPr lang="en-US" dirty="0"/>
              <a:t> texture e </a:t>
            </a:r>
            <a:r>
              <a:rPr lang="en-US" dirty="0" err="1"/>
              <a:t>conservazione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k — la </a:t>
            </a:r>
            <a:r>
              <a:rPr lang="en-US" b="1" dirty="0" err="1"/>
              <a:t>ripidità</a:t>
            </a:r>
            <a:r>
              <a:rPr lang="en-US" b="1" dirty="0"/>
              <a:t> </a:t>
            </a:r>
            <a:r>
              <a:rPr lang="en-US" b="1" dirty="0" err="1"/>
              <a:t>dello</a:t>
            </a:r>
            <a:r>
              <a:rPr lang="en-US" b="1" dirty="0"/>
              <a:t> </a:t>
            </a:r>
            <a:r>
              <a:rPr lang="en-US" b="1" dirty="0" err="1"/>
              <a:t>scivolo</a:t>
            </a:r>
            <a:endParaRPr lang="en-US" dirty="0" err="1"/>
          </a:p>
          <a:p>
            <a:r>
              <a:rPr lang="en-US" dirty="0"/>
              <a:t>Misura </a:t>
            </a:r>
            <a:r>
              <a:rPr lang="en-US" dirty="0" err="1"/>
              <a:t>quanto</a:t>
            </a:r>
            <a:r>
              <a:rPr lang="en-US" dirty="0"/>
              <a:t> </a:t>
            </a:r>
            <a:r>
              <a:rPr lang="en-US" dirty="0" err="1"/>
              <a:t>velocemente</a:t>
            </a:r>
            <a:r>
              <a:rPr lang="en-US" dirty="0"/>
              <a:t> il pH </a:t>
            </a:r>
            <a:r>
              <a:rPr lang="en-US" dirty="0" err="1"/>
              <a:t>scende</a:t>
            </a:r>
            <a:r>
              <a:rPr lang="en-US" dirty="0"/>
              <a:t> </a:t>
            </a:r>
            <a:r>
              <a:rPr lang="en-US" dirty="0" err="1"/>
              <a:t>durante</a:t>
            </a:r>
            <a:r>
              <a:rPr lang="en-US" dirty="0"/>
              <a:t> la </a:t>
            </a:r>
            <a:r>
              <a:rPr lang="en-US" dirty="0" err="1"/>
              <a:t>fase</a:t>
            </a:r>
            <a:r>
              <a:rPr lang="en-US" dirty="0"/>
              <a:t>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attiva</a:t>
            </a:r>
            <a:r>
              <a:rPr lang="en-US" dirty="0"/>
              <a:t>. S2 ha k = </a:t>
            </a:r>
            <a:r>
              <a:rPr lang="en-US" b="1" dirty="0"/>
              <a:t>1,69</a:t>
            </a:r>
            <a:r>
              <a:rPr lang="en-US" dirty="0"/>
              <a:t>, quasi il doppio di S1 (0,92): lo </a:t>
            </a:r>
            <a:r>
              <a:rPr lang="en-US" dirty="0" err="1"/>
              <a:t>scivolo</a:t>
            </a:r>
            <a:r>
              <a:rPr lang="en-US" dirty="0"/>
              <a:t> di S2 è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ripido</a:t>
            </a:r>
            <a:r>
              <a:rPr lang="en-US" dirty="0"/>
              <a:t>, </a:t>
            </a:r>
            <a:r>
              <a:rPr lang="en-US" dirty="0" err="1"/>
              <a:t>i</a:t>
            </a:r>
            <a:r>
              <a:rPr lang="en-US" dirty="0"/>
              <a:t> ferments </a:t>
            </a:r>
            <a:r>
              <a:rPr lang="en-US" dirty="0" err="1"/>
              <a:t>hanno</a:t>
            </a:r>
            <a:r>
              <a:rPr lang="en-US" dirty="0"/>
              <a:t> </a:t>
            </a:r>
            <a:r>
              <a:rPr lang="en-US" dirty="0" err="1"/>
              <a:t>accelerato</a:t>
            </a:r>
            <a:r>
              <a:rPr lang="en-US" dirty="0"/>
              <a:t>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bruscamente</a:t>
            </a:r>
            <a:r>
              <a:rPr lang="en-US" dirty="0"/>
              <a:t> </a:t>
            </a:r>
            <a:r>
              <a:rPr lang="en-US" dirty="0" err="1"/>
              <a:t>quando</a:t>
            </a:r>
            <a:r>
              <a:rPr lang="en-US" dirty="0"/>
              <a:t> </a:t>
            </a:r>
            <a:r>
              <a:rPr lang="en-US" dirty="0" err="1"/>
              <a:t>erano</a:t>
            </a:r>
            <a:r>
              <a:rPr lang="en-US" dirty="0"/>
              <a:t> al </a:t>
            </a:r>
            <a:r>
              <a:rPr lang="en-US" dirty="0" err="1"/>
              <a:t>picco</a:t>
            </a:r>
            <a:r>
              <a:rPr lang="en-US" dirty="0"/>
              <a:t>. </a:t>
            </a:r>
            <a:r>
              <a:rPr lang="en-US" dirty="0" err="1"/>
              <a:t>Dipende</a:t>
            </a:r>
            <a:r>
              <a:rPr lang="en-US" dirty="0"/>
              <a:t> dal </a:t>
            </a:r>
            <a:r>
              <a:rPr lang="en-US" dirty="0" err="1"/>
              <a:t>tipo</a:t>
            </a:r>
            <a:r>
              <a:rPr lang="en-US" dirty="0"/>
              <a:t> di ferment, dal </a:t>
            </a:r>
            <a:r>
              <a:rPr lang="en-US" dirty="0" err="1"/>
              <a:t>rapporto</a:t>
            </a:r>
            <a:r>
              <a:rPr lang="en-US" dirty="0"/>
              <a:t>, </a:t>
            </a:r>
            <a:r>
              <a:rPr lang="en-US" dirty="0" err="1"/>
              <a:t>dalla</a:t>
            </a:r>
            <a:r>
              <a:rPr lang="en-US" dirty="0"/>
              <a:t> </a:t>
            </a:r>
            <a:r>
              <a:rPr lang="en-US" dirty="0" err="1"/>
              <a:t>temperatura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br>
              <a:rPr lang="en-US" dirty="0"/>
            </a:br>
            <a:endParaRPr lang="en-US" dirty="0"/>
          </a:p>
          <a:p>
            <a:r>
              <a:rPr lang="en-US" b="1"/>
              <a:t>t₀ — il punto di mezzo</a:t>
            </a:r>
            <a:endParaRPr lang="en-US"/>
          </a:p>
          <a:p>
            <a:r>
              <a:rPr lang="en-US" dirty="0"/>
              <a:t>È il </a:t>
            </a:r>
            <a:r>
              <a:rPr lang="en-US" dirty="0" err="1"/>
              <a:t>momento</a:t>
            </a:r>
            <a:r>
              <a:rPr lang="en-US" dirty="0"/>
              <a:t> in cui la </a:t>
            </a:r>
            <a:r>
              <a:rPr lang="en-US" dirty="0" err="1"/>
              <a:t>discesa</a:t>
            </a:r>
            <a:r>
              <a:rPr lang="en-US" dirty="0"/>
              <a:t> del pH è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rapida</a:t>
            </a:r>
            <a:r>
              <a:rPr lang="en-US" dirty="0"/>
              <a:t>, </a:t>
            </a:r>
            <a:r>
              <a:rPr lang="en-US" dirty="0" err="1"/>
              <a:t>cioè</a:t>
            </a:r>
            <a:r>
              <a:rPr lang="en-US" dirty="0"/>
              <a:t> il </a:t>
            </a:r>
            <a:r>
              <a:rPr lang="en-US" dirty="0" err="1"/>
              <a:t>centro</a:t>
            </a:r>
            <a:r>
              <a:rPr lang="en-US" dirty="0"/>
              <a:t> </a:t>
            </a:r>
            <a:r>
              <a:rPr lang="en-US" dirty="0" err="1"/>
              <a:t>dello</a:t>
            </a:r>
            <a:r>
              <a:rPr lang="en-US" dirty="0"/>
              <a:t> </a:t>
            </a:r>
            <a:r>
              <a:rPr lang="en-US" dirty="0" err="1"/>
              <a:t>scivolo</a:t>
            </a:r>
            <a:r>
              <a:rPr lang="en-US" dirty="0"/>
              <a:t>. S1 ha t₀ = </a:t>
            </a:r>
            <a:r>
              <a:rPr lang="en-US" b="1" dirty="0"/>
              <a:t>−2,87h</a:t>
            </a:r>
            <a:r>
              <a:rPr lang="en-US" dirty="0"/>
              <a:t> (</a:t>
            </a:r>
            <a:r>
              <a:rPr lang="en-US" dirty="0" err="1"/>
              <a:t>strano</a:t>
            </a:r>
            <a:r>
              <a:rPr lang="en-US" dirty="0"/>
              <a:t>: prima del moulage, </a:t>
            </a:r>
            <a:r>
              <a:rPr lang="en-US" dirty="0" err="1"/>
              <a:t>perché</a:t>
            </a:r>
            <a:r>
              <a:rPr lang="en-US" dirty="0"/>
              <a:t> la </a:t>
            </a:r>
            <a:r>
              <a:rPr lang="en-US" dirty="0" err="1"/>
              <a:t>sonda</a:t>
            </a:r>
            <a:r>
              <a:rPr lang="en-US" dirty="0"/>
              <a:t> era </a:t>
            </a:r>
            <a:r>
              <a:rPr lang="en-US" dirty="0" err="1"/>
              <a:t>già</a:t>
            </a:r>
            <a:r>
              <a:rPr lang="en-US" dirty="0"/>
              <a:t> </a:t>
            </a:r>
            <a:r>
              <a:rPr lang="en-US" dirty="0" err="1"/>
              <a:t>inserita</a:t>
            </a:r>
            <a:r>
              <a:rPr lang="en-US" dirty="0"/>
              <a:t> </a:t>
            </a:r>
            <a:r>
              <a:rPr lang="en-US" dirty="0" err="1"/>
              <a:t>durante</a:t>
            </a:r>
            <a:r>
              <a:rPr lang="en-US" dirty="0"/>
              <a:t> la </a:t>
            </a:r>
            <a:r>
              <a:rPr lang="en-US" dirty="0" err="1"/>
              <a:t>fabbricazione</a:t>
            </a:r>
            <a:r>
              <a:rPr lang="en-US" dirty="0"/>
              <a:t>). S2 ha t₀ = </a:t>
            </a:r>
            <a:r>
              <a:rPr lang="en-US" b="1" dirty="0"/>
              <a:t>+1,77h</a:t>
            </a:r>
            <a:r>
              <a:rPr lang="en-US" dirty="0"/>
              <a:t> dopo il moulage — il </a:t>
            </a:r>
            <a:r>
              <a:rPr lang="en-US" dirty="0" err="1"/>
              <a:t>picco</a:t>
            </a:r>
            <a:r>
              <a:rPr lang="en-US" dirty="0"/>
              <a:t> di </a:t>
            </a:r>
            <a:r>
              <a:rPr lang="en-US" dirty="0" err="1"/>
              <a:t>attività</a:t>
            </a:r>
            <a:r>
              <a:rPr lang="en-US" dirty="0"/>
              <a:t> è </a:t>
            </a:r>
            <a:r>
              <a:rPr lang="en-US" dirty="0" err="1"/>
              <a:t>arrivato</a:t>
            </a:r>
            <a:r>
              <a:rPr lang="en-US" dirty="0"/>
              <a:t> quasi 2 ore dopo </a:t>
            </a:r>
            <a:r>
              <a:rPr lang="en-US" dirty="0" err="1"/>
              <a:t>l'inizio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R² — </a:t>
            </a:r>
            <a:r>
              <a:rPr lang="en-US" b="1" dirty="0" err="1"/>
              <a:t>quanto</a:t>
            </a:r>
            <a:r>
              <a:rPr lang="en-US" b="1" dirty="0"/>
              <a:t> il </a:t>
            </a:r>
            <a:r>
              <a:rPr lang="en-US" b="1" dirty="0" err="1"/>
              <a:t>modello</a:t>
            </a:r>
            <a:r>
              <a:rPr lang="en-US" b="1" dirty="0"/>
              <a:t> </a:t>
            </a:r>
            <a:r>
              <a:rPr lang="en-US" b="1" dirty="0" err="1"/>
              <a:t>funziona</a:t>
            </a:r>
            <a:endParaRPr lang="en-US" dirty="0" err="1"/>
          </a:p>
          <a:p>
            <a:r>
              <a:rPr lang="en-US" dirty="0"/>
              <a:t>Non è un </a:t>
            </a:r>
            <a:r>
              <a:rPr lang="en-US" dirty="0" err="1"/>
              <a:t>parametro</a:t>
            </a:r>
            <a:r>
              <a:rPr lang="en-US" dirty="0"/>
              <a:t> </a:t>
            </a:r>
            <a:r>
              <a:rPr lang="en-US" dirty="0" err="1"/>
              <a:t>biologico</a:t>
            </a:r>
            <a:r>
              <a:rPr lang="en-US" dirty="0"/>
              <a:t>, è un </a:t>
            </a:r>
            <a:r>
              <a:rPr lang="en-US" dirty="0" err="1"/>
              <a:t>voto</a:t>
            </a:r>
            <a:r>
              <a:rPr lang="en-US" dirty="0"/>
              <a:t>. 0,987 e 0,957 </a:t>
            </a:r>
            <a:r>
              <a:rPr lang="en-US" dirty="0" err="1"/>
              <a:t>significano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la curva </a:t>
            </a:r>
            <a:r>
              <a:rPr lang="en-US" dirty="0" err="1"/>
              <a:t>logistica</a:t>
            </a:r>
            <a:r>
              <a:rPr lang="en-US" dirty="0"/>
              <a:t> </a:t>
            </a:r>
            <a:r>
              <a:rPr lang="en-US" dirty="0" err="1"/>
              <a:t>descrive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dati</a:t>
            </a:r>
            <a:r>
              <a:rPr lang="en-US" dirty="0"/>
              <a:t> </a:t>
            </a:r>
            <a:r>
              <a:rPr lang="en-US" dirty="0" err="1"/>
              <a:t>reali</a:t>
            </a:r>
            <a:r>
              <a:rPr lang="en-US" dirty="0"/>
              <a:t> molto bene (quasi </a:t>
            </a:r>
            <a:r>
              <a:rPr lang="en-US" dirty="0" err="1"/>
              <a:t>perfettamente</a:t>
            </a:r>
            <a:r>
              <a:rPr lang="en-US" dirty="0"/>
              <a:t>). Il </a:t>
            </a:r>
            <a:r>
              <a:rPr lang="en-US" dirty="0" err="1"/>
              <a:t>modello</a:t>
            </a:r>
            <a:r>
              <a:rPr lang="en-US" dirty="0"/>
              <a:t> è </a:t>
            </a:r>
            <a:r>
              <a:rPr lang="en-US" dirty="0" err="1"/>
              <a:t>affidabile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</a:t>
            </a:r>
            <a:r>
              <a:rPr lang="en-US" dirty="0" err="1"/>
              <a:t>modello</a:t>
            </a:r>
            <a:r>
              <a:rPr lang="en-US" dirty="0"/>
              <a:t> di </a:t>
            </a:r>
            <a:r>
              <a:rPr lang="en-US" dirty="0" err="1"/>
              <a:t>Luedeking</a:t>
            </a:r>
            <a:r>
              <a:rPr lang="en-US" dirty="0"/>
              <a:t>-Piret </a:t>
            </a:r>
            <a:r>
              <a:rPr lang="en-US" dirty="0" err="1"/>
              <a:t>risponde</a:t>
            </a:r>
            <a:r>
              <a:rPr lang="en-US" dirty="0"/>
              <a:t> a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domanda</a:t>
            </a:r>
            <a:r>
              <a:rPr lang="en-US" dirty="0"/>
              <a:t> semplice: </a:t>
            </a:r>
            <a:r>
              <a:rPr lang="en-US" b="1" dirty="0" err="1"/>
              <a:t>l'acido</a:t>
            </a:r>
            <a:r>
              <a:rPr lang="en-US" b="1" dirty="0"/>
              <a:t> </a:t>
            </a:r>
            <a:r>
              <a:rPr lang="en-US" b="1" dirty="0" err="1"/>
              <a:t>lattico</a:t>
            </a:r>
            <a:r>
              <a:rPr lang="en-US" b="1" dirty="0"/>
              <a:t> </a:t>
            </a:r>
            <a:r>
              <a:rPr lang="en-US" b="1" dirty="0" err="1"/>
              <a:t>viene</a:t>
            </a:r>
            <a:r>
              <a:rPr lang="en-US" b="1" dirty="0"/>
              <a:t> </a:t>
            </a:r>
            <a:r>
              <a:rPr lang="en-US" b="1" dirty="0" err="1"/>
              <a:t>prodotto</a:t>
            </a:r>
            <a:r>
              <a:rPr lang="en-US" b="1" dirty="0"/>
              <a:t> </a:t>
            </a:r>
            <a:r>
              <a:rPr lang="en-US" b="1" dirty="0" err="1"/>
              <a:t>mentre</a:t>
            </a:r>
            <a:r>
              <a:rPr lang="en-US" b="1" dirty="0"/>
              <a:t>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b="1" dirty="0" err="1"/>
              <a:t>batteri</a:t>
            </a:r>
            <a:r>
              <a:rPr lang="en-US" b="1" dirty="0"/>
              <a:t> </a:t>
            </a:r>
            <a:r>
              <a:rPr lang="en-US" b="1" dirty="0" err="1"/>
              <a:t>crescono</a:t>
            </a:r>
            <a:r>
              <a:rPr lang="en-US" b="1" dirty="0"/>
              <a:t>, </a:t>
            </a:r>
            <a:r>
              <a:rPr lang="en-US" b="1" dirty="0" err="1"/>
              <a:t>oppure</a:t>
            </a:r>
            <a:r>
              <a:rPr lang="en-US" b="1" dirty="0"/>
              <a:t> </a:t>
            </a:r>
            <a:r>
              <a:rPr lang="en-US" b="1" dirty="0" err="1"/>
              <a:t>anche</a:t>
            </a:r>
            <a:r>
              <a:rPr lang="en-US" b="1" dirty="0"/>
              <a:t> dopo </a:t>
            </a:r>
            <a:r>
              <a:rPr lang="en-US" b="1" dirty="0" err="1"/>
              <a:t>che</a:t>
            </a:r>
            <a:r>
              <a:rPr lang="en-US" b="1" dirty="0"/>
              <a:t> </a:t>
            </a:r>
            <a:r>
              <a:rPr lang="en-US" b="1" dirty="0" err="1"/>
              <a:t>hanno</a:t>
            </a:r>
            <a:r>
              <a:rPr lang="en-US" b="1" dirty="0"/>
              <a:t> </a:t>
            </a:r>
            <a:r>
              <a:rPr lang="en-US" b="1" dirty="0" err="1"/>
              <a:t>smesso</a:t>
            </a:r>
            <a:r>
              <a:rPr lang="en-US" b="1" dirty="0"/>
              <a:t> di </a:t>
            </a:r>
            <a:r>
              <a:rPr lang="en-US" b="1" dirty="0" err="1"/>
              <a:t>crescere</a:t>
            </a:r>
            <a:r>
              <a:rPr lang="en-US" b="1" dirty="0"/>
              <a:t>?</a:t>
            </a:r>
          </a:p>
          <a:p>
            <a:endParaRPr lang="en-US" b="1" dirty="0">
              <a:ea typeface="Calibri"/>
              <a:cs typeface="Calibri"/>
            </a:endParaRPr>
          </a:p>
          <a:p>
            <a:r>
              <a:rPr lang="en-US" b="1" dirty="0"/>
              <a:t>μ — </a:t>
            </a:r>
            <a:r>
              <a:rPr lang="en-US" b="1" dirty="0" err="1"/>
              <a:t>velocità</a:t>
            </a:r>
            <a:r>
              <a:rPr lang="en-US" b="1" dirty="0"/>
              <a:t> di </a:t>
            </a:r>
            <a:r>
              <a:rPr lang="en-US" b="1" dirty="0" err="1"/>
              <a:t>crescita</a:t>
            </a:r>
            <a:r>
              <a:rPr lang="en-US" b="1" dirty="0"/>
              <a:t> </a:t>
            </a:r>
            <a:r>
              <a:rPr lang="en-US" b="1" dirty="0" err="1"/>
              <a:t>batterica</a:t>
            </a:r>
            <a:r>
              <a:rPr lang="en-US" dirty="0"/>
              <a:t> Quanto in </a:t>
            </a:r>
            <a:r>
              <a:rPr lang="en-US" dirty="0" err="1"/>
              <a:t>fretta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moltiplicano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batteri</a:t>
            </a:r>
            <a:r>
              <a:rPr lang="en-US" dirty="0"/>
              <a:t>. S2 ha μ = </a:t>
            </a:r>
            <a:r>
              <a:rPr lang="en-US" b="1" dirty="0"/>
              <a:t>25,26</a:t>
            </a:r>
            <a:r>
              <a:rPr lang="en-US" dirty="0"/>
              <a:t>, quasi 4 volte </a:t>
            </a:r>
            <a:r>
              <a:rPr lang="en-US" dirty="0" err="1"/>
              <a:t>più</a:t>
            </a:r>
            <a:r>
              <a:rPr lang="en-US" dirty="0"/>
              <a:t> alto di S1 (7,09). I ferments di S2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sono</a:t>
            </a:r>
            <a:r>
              <a:rPr lang="en-US" dirty="0"/>
              <a:t> </a:t>
            </a:r>
            <a:r>
              <a:rPr lang="en-US" dirty="0" err="1"/>
              <a:t>moltiplicati</a:t>
            </a:r>
            <a:r>
              <a:rPr lang="en-US" dirty="0"/>
              <a:t> molto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rapidamente</a:t>
            </a:r>
            <a:r>
              <a:rPr lang="en-US" dirty="0"/>
              <a:t> — </a:t>
            </a:r>
            <a:r>
              <a:rPr lang="en-US" dirty="0" err="1"/>
              <a:t>probabilmente</a:t>
            </a:r>
            <a:r>
              <a:rPr lang="en-US" dirty="0"/>
              <a:t> per il </a:t>
            </a:r>
            <a:r>
              <a:rPr lang="en-US" dirty="0" err="1"/>
              <a:t>diverso</a:t>
            </a:r>
            <a:r>
              <a:rPr lang="en-US" dirty="0"/>
              <a:t> </a:t>
            </a:r>
            <a:r>
              <a:rPr lang="en-US" dirty="0" err="1"/>
              <a:t>rapporto</a:t>
            </a:r>
            <a:r>
              <a:rPr lang="en-US" dirty="0"/>
              <a:t> MFR32-dominante.</a:t>
            </a:r>
            <a:endParaRPr lang="en-US" dirty="0">
              <a:ea typeface="Calibri"/>
              <a:cs typeface="Calibri"/>
            </a:endParaRPr>
          </a:p>
          <a:p>
            <a:r>
              <a:rPr lang="en-US" b="1" dirty="0"/>
              <a:t>α — </a:t>
            </a:r>
            <a:r>
              <a:rPr lang="en-US" b="1" dirty="0" err="1"/>
              <a:t>acido</a:t>
            </a:r>
            <a:r>
              <a:rPr lang="en-US" b="1" dirty="0"/>
              <a:t> </a:t>
            </a:r>
            <a:r>
              <a:rPr lang="en-US" b="1" dirty="0" err="1"/>
              <a:t>prodotto</a:t>
            </a:r>
            <a:r>
              <a:rPr lang="en-US" b="1" dirty="0"/>
              <a:t> DURANTE la </a:t>
            </a:r>
            <a:r>
              <a:rPr lang="en-US" b="1" dirty="0" err="1"/>
              <a:t>crescita</a:t>
            </a:r>
            <a:r>
              <a:rPr lang="en-US" dirty="0"/>
              <a:t> Ogni volta </a:t>
            </a:r>
            <a:r>
              <a:rPr lang="en-US" dirty="0" err="1"/>
              <a:t>che</a:t>
            </a:r>
            <a:r>
              <a:rPr lang="en-US" dirty="0"/>
              <a:t> un </a:t>
            </a:r>
            <a:r>
              <a:rPr lang="en-US" dirty="0" err="1"/>
              <a:t>batterio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divide, produce </a:t>
            </a:r>
            <a:r>
              <a:rPr lang="en-US" dirty="0" err="1"/>
              <a:t>acido</a:t>
            </a:r>
            <a:r>
              <a:rPr lang="en-US" dirty="0"/>
              <a:t>. In S1 α = </a:t>
            </a:r>
            <a:r>
              <a:rPr lang="en-US" b="1" dirty="0"/>
              <a:t>0,653</a:t>
            </a:r>
            <a:r>
              <a:rPr lang="en-US" dirty="0"/>
              <a:t> (alto): quasi </a:t>
            </a:r>
            <a:r>
              <a:rPr lang="en-US" dirty="0" err="1"/>
              <a:t>tutto</a:t>
            </a:r>
            <a:r>
              <a:rPr lang="en-US" dirty="0"/>
              <a:t> </a:t>
            </a:r>
            <a:r>
              <a:rPr lang="en-US" dirty="0" err="1"/>
              <a:t>l'acido</a:t>
            </a:r>
            <a:r>
              <a:rPr lang="en-US" dirty="0"/>
              <a:t> </a:t>
            </a:r>
            <a:r>
              <a:rPr lang="en-US" dirty="0" err="1"/>
              <a:t>viene</a:t>
            </a:r>
            <a:r>
              <a:rPr lang="en-US" dirty="0"/>
              <a:t> </a:t>
            </a:r>
            <a:r>
              <a:rPr lang="en-US" dirty="0" err="1"/>
              <a:t>fatto</a:t>
            </a:r>
            <a:r>
              <a:rPr lang="en-US" dirty="0"/>
              <a:t> </a:t>
            </a:r>
            <a:r>
              <a:rPr lang="en-US" dirty="0" err="1"/>
              <a:t>mentre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batteri</a:t>
            </a:r>
            <a:r>
              <a:rPr lang="en-US" dirty="0"/>
              <a:t> </a:t>
            </a:r>
            <a:r>
              <a:rPr lang="en-US" dirty="0" err="1"/>
              <a:t>crescono</a:t>
            </a:r>
            <a:r>
              <a:rPr lang="en-US" dirty="0"/>
              <a:t> </a:t>
            </a:r>
            <a:r>
              <a:rPr lang="en-US" dirty="0" err="1"/>
              <a:t>attivamente</a:t>
            </a:r>
            <a:r>
              <a:rPr lang="en-US" dirty="0"/>
              <a:t>. In S2 α = </a:t>
            </a:r>
            <a:r>
              <a:rPr lang="en-US" b="1" dirty="0"/>
              <a:t>0,036</a:t>
            </a:r>
            <a:r>
              <a:rPr lang="en-US" dirty="0"/>
              <a:t> (quasi zero): la </a:t>
            </a:r>
            <a:r>
              <a:rPr lang="en-US" dirty="0" err="1"/>
              <a:t>crescita</a:t>
            </a:r>
            <a:r>
              <a:rPr lang="en-US" dirty="0"/>
              <a:t> </a:t>
            </a:r>
            <a:r>
              <a:rPr lang="en-US" dirty="0" err="1"/>
              <a:t>rapida</a:t>
            </a:r>
            <a:r>
              <a:rPr lang="en-US" dirty="0"/>
              <a:t> non produce quasi </a:t>
            </a:r>
            <a:r>
              <a:rPr lang="en-US" dirty="0" err="1"/>
              <a:t>acido</a:t>
            </a:r>
            <a:r>
              <a:rPr lang="en-US" dirty="0"/>
              <a:t> </a:t>
            </a:r>
            <a:r>
              <a:rPr lang="en-US" dirty="0" err="1"/>
              <a:t>direttamente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r>
              <a:rPr lang="en-US" b="1" dirty="0"/>
              <a:t>β — </a:t>
            </a:r>
            <a:r>
              <a:rPr lang="en-US" b="1" dirty="0" err="1"/>
              <a:t>acido</a:t>
            </a:r>
            <a:r>
              <a:rPr lang="en-US" b="1" dirty="0"/>
              <a:t> </a:t>
            </a:r>
            <a:r>
              <a:rPr lang="en-US" b="1" dirty="0" err="1"/>
              <a:t>prodotto</a:t>
            </a:r>
            <a:r>
              <a:rPr lang="en-US" b="1" dirty="0"/>
              <a:t> DOPO la </a:t>
            </a:r>
            <a:r>
              <a:rPr lang="en-US" b="1" dirty="0" err="1"/>
              <a:t>crescita</a:t>
            </a:r>
            <a:r>
              <a:rPr lang="en-US" dirty="0"/>
              <a:t> I </a:t>
            </a:r>
            <a:r>
              <a:rPr lang="en-US" dirty="0" err="1"/>
              <a:t>batteri</a:t>
            </a:r>
            <a:r>
              <a:rPr lang="en-US" dirty="0"/>
              <a:t> </a:t>
            </a:r>
            <a:r>
              <a:rPr lang="en-US" dirty="0" err="1"/>
              <a:t>producono</a:t>
            </a:r>
            <a:r>
              <a:rPr lang="en-US" dirty="0"/>
              <a:t> </a:t>
            </a:r>
            <a:r>
              <a:rPr lang="en-US" dirty="0" err="1"/>
              <a:t>acido</a:t>
            </a:r>
            <a:r>
              <a:rPr lang="en-US" dirty="0"/>
              <a:t> </a:t>
            </a:r>
            <a:r>
              <a:rPr lang="en-US" dirty="0" err="1"/>
              <a:t>anche</a:t>
            </a:r>
            <a:r>
              <a:rPr lang="en-US" dirty="0"/>
              <a:t> da "fermi", in </a:t>
            </a:r>
            <a:r>
              <a:rPr lang="en-US" dirty="0" err="1"/>
              <a:t>fase</a:t>
            </a:r>
            <a:r>
              <a:rPr lang="en-US" dirty="0"/>
              <a:t> </a:t>
            </a:r>
            <a:r>
              <a:rPr lang="en-US" dirty="0" err="1"/>
              <a:t>stazionaria</a:t>
            </a:r>
            <a:r>
              <a:rPr lang="en-US" dirty="0"/>
              <a:t>. In S1 β = </a:t>
            </a:r>
            <a:r>
              <a:rPr lang="en-US" b="1" dirty="0"/>
              <a:t>0,000</a:t>
            </a:r>
            <a:r>
              <a:rPr lang="en-US" dirty="0"/>
              <a:t>: </a:t>
            </a:r>
            <a:r>
              <a:rPr lang="en-US" dirty="0" err="1"/>
              <a:t>quando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batteri</a:t>
            </a:r>
            <a:r>
              <a:rPr lang="en-US" dirty="0"/>
              <a:t> </a:t>
            </a:r>
            <a:r>
              <a:rPr lang="en-US" dirty="0" err="1"/>
              <a:t>smettono</a:t>
            </a:r>
            <a:r>
              <a:rPr lang="en-US" dirty="0"/>
              <a:t> di </a:t>
            </a:r>
            <a:r>
              <a:rPr lang="en-US" dirty="0" err="1"/>
              <a:t>crescere</a:t>
            </a:r>
            <a:r>
              <a:rPr lang="en-US" dirty="0"/>
              <a:t>, </a:t>
            </a:r>
            <a:r>
              <a:rPr lang="en-US" dirty="0" err="1"/>
              <a:t>smettono</a:t>
            </a:r>
            <a:r>
              <a:rPr lang="en-US" dirty="0"/>
              <a:t> </a:t>
            </a:r>
            <a:r>
              <a:rPr lang="en-US" dirty="0" err="1"/>
              <a:t>anche</a:t>
            </a:r>
            <a:r>
              <a:rPr lang="en-US" dirty="0"/>
              <a:t> di </a:t>
            </a:r>
            <a:r>
              <a:rPr lang="en-US" dirty="0" err="1"/>
              <a:t>acidificare</a:t>
            </a:r>
            <a:r>
              <a:rPr lang="en-US" dirty="0"/>
              <a:t>. In S2 β = </a:t>
            </a:r>
            <a:r>
              <a:rPr lang="en-US" b="1" dirty="0"/>
              <a:t>0,308</a:t>
            </a:r>
            <a:r>
              <a:rPr lang="en-US" dirty="0"/>
              <a:t> (alto): </a:t>
            </a:r>
            <a:r>
              <a:rPr lang="en-US" dirty="0" err="1"/>
              <a:t>anche</a:t>
            </a:r>
            <a:r>
              <a:rPr lang="en-US" dirty="0"/>
              <a:t> dopo aver </a:t>
            </a:r>
            <a:r>
              <a:rPr lang="en-US" dirty="0" err="1"/>
              <a:t>smesso</a:t>
            </a:r>
            <a:r>
              <a:rPr lang="en-US" dirty="0"/>
              <a:t> di </a:t>
            </a:r>
            <a:r>
              <a:rPr lang="en-US" dirty="0" err="1"/>
              <a:t>crescere</a:t>
            </a:r>
            <a:r>
              <a:rPr lang="en-US" dirty="0"/>
              <a:t>,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batteri</a:t>
            </a:r>
            <a:r>
              <a:rPr lang="en-US" dirty="0"/>
              <a:t> </a:t>
            </a:r>
            <a:r>
              <a:rPr lang="en-US" dirty="0" err="1"/>
              <a:t>continuano</a:t>
            </a:r>
            <a:r>
              <a:rPr lang="en-US" dirty="0"/>
              <a:t> a </a:t>
            </a:r>
            <a:r>
              <a:rPr lang="en-US" dirty="0" err="1"/>
              <a:t>produrre</a:t>
            </a:r>
            <a:r>
              <a:rPr lang="en-US" dirty="0"/>
              <a:t> </a:t>
            </a:r>
            <a:r>
              <a:rPr lang="en-US" dirty="0" err="1"/>
              <a:t>acido</a:t>
            </a:r>
            <a:r>
              <a:rPr lang="en-US" dirty="0"/>
              <a:t> a </a:t>
            </a:r>
            <a:r>
              <a:rPr lang="en-US" dirty="0" err="1"/>
              <a:t>lungo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endParaRPr lang="en-US" b="1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Cosa è </a:t>
            </a:r>
            <a:r>
              <a:rPr lang="en-US" b="1" dirty="0" err="1"/>
              <a:t>successo</a:t>
            </a:r>
            <a:r>
              <a:rPr lang="en-US" b="1" dirty="0"/>
              <a:t> in </a:t>
            </a:r>
            <a:r>
              <a:rPr lang="en-US" b="1" dirty="0" err="1"/>
              <a:t>ciascuna</a:t>
            </a:r>
            <a:r>
              <a:rPr lang="en-US" b="1" dirty="0"/>
              <a:t> </a:t>
            </a:r>
            <a:r>
              <a:rPr lang="en-US" b="1" dirty="0" err="1"/>
              <a:t>sessione</a:t>
            </a:r>
            <a:endParaRPr lang="en-US" dirty="0" err="1"/>
          </a:p>
          <a:p>
            <a:r>
              <a:rPr lang="en-US" b="1" dirty="0"/>
              <a:t>S1</a:t>
            </a:r>
            <a:r>
              <a:rPr lang="en-US" dirty="0"/>
              <a:t> </a:t>
            </a:r>
            <a:r>
              <a:rPr lang="en-US" dirty="0" err="1"/>
              <a:t>aveva</a:t>
            </a:r>
            <a:r>
              <a:rPr lang="en-US" dirty="0"/>
              <a:t> MFR38 </a:t>
            </a:r>
            <a:r>
              <a:rPr lang="en-US" dirty="0" err="1"/>
              <a:t>dominante</a:t>
            </a:r>
            <a:r>
              <a:rPr lang="en-US" dirty="0"/>
              <a:t> (3,45:1). I </a:t>
            </a:r>
            <a:r>
              <a:rPr lang="en-US" dirty="0" err="1"/>
              <a:t>batteri</a:t>
            </a:r>
            <a:r>
              <a:rPr lang="en-US" dirty="0"/>
              <a:t> </a:t>
            </a:r>
            <a:r>
              <a:rPr lang="en-US" dirty="0" err="1"/>
              <a:t>sono</a:t>
            </a:r>
            <a:r>
              <a:rPr lang="en-US" dirty="0"/>
              <a:t> </a:t>
            </a:r>
            <a:r>
              <a:rPr lang="en-US" dirty="0" err="1"/>
              <a:t>cresciuti</a:t>
            </a:r>
            <a:r>
              <a:rPr lang="en-US" dirty="0"/>
              <a:t> lentamente (μ basso), </a:t>
            </a:r>
            <a:r>
              <a:rPr lang="en-US" dirty="0" err="1"/>
              <a:t>hanno</a:t>
            </a:r>
            <a:r>
              <a:rPr lang="en-US" dirty="0"/>
              <a:t> </a:t>
            </a:r>
            <a:r>
              <a:rPr lang="en-US" dirty="0" err="1"/>
              <a:t>prodotto</a:t>
            </a:r>
            <a:r>
              <a:rPr lang="en-US" dirty="0"/>
              <a:t> </a:t>
            </a:r>
            <a:r>
              <a:rPr lang="en-US" dirty="0" err="1"/>
              <a:t>acido</a:t>
            </a:r>
            <a:r>
              <a:rPr lang="en-US" dirty="0"/>
              <a:t> </a:t>
            </a:r>
            <a:r>
              <a:rPr lang="en-US" b="1" dirty="0"/>
              <a:t>subito </a:t>
            </a:r>
            <a:r>
              <a:rPr lang="en-US" b="1" dirty="0" err="1"/>
              <a:t>durante</a:t>
            </a:r>
            <a:r>
              <a:rPr lang="en-US" b="1" dirty="0"/>
              <a:t> la </a:t>
            </a:r>
            <a:r>
              <a:rPr lang="en-US" b="1" dirty="0" err="1"/>
              <a:t>crescita</a:t>
            </a:r>
            <a:r>
              <a:rPr lang="en-US" dirty="0"/>
              <a:t> (α≫β), </a:t>
            </a:r>
            <a:r>
              <a:rPr lang="en-US" dirty="0" err="1"/>
              <a:t>l'acidificazione</a:t>
            </a:r>
            <a:r>
              <a:rPr lang="en-US" dirty="0"/>
              <a:t> è </a:t>
            </a:r>
            <a:r>
              <a:rPr lang="en-US" dirty="0" err="1"/>
              <a:t>arrivata</a:t>
            </a:r>
            <a:r>
              <a:rPr lang="en-US" dirty="0"/>
              <a:t> presto → il </a:t>
            </a:r>
            <a:r>
              <a:rPr lang="en-US" dirty="0" err="1"/>
              <a:t>caglio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è </a:t>
            </a:r>
            <a:r>
              <a:rPr lang="en-US" dirty="0" err="1"/>
              <a:t>formato</a:t>
            </a:r>
            <a:r>
              <a:rPr lang="en-US" dirty="0"/>
              <a:t> e </a:t>
            </a:r>
            <a:r>
              <a:rPr lang="en-US" dirty="0" err="1"/>
              <a:t>contratto</a:t>
            </a:r>
            <a:r>
              <a:rPr lang="en-US" dirty="0"/>
              <a:t> bene → </a:t>
            </a:r>
            <a:r>
              <a:rPr lang="en-US" b="1" dirty="0" err="1"/>
              <a:t>più</a:t>
            </a:r>
            <a:r>
              <a:rPr lang="en-US" b="1" dirty="0"/>
              <a:t> </a:t>
            </a:r>
            <a:r>
              <a:rPr lang="en-US" b="1" dirty="0" err="1"/>
              <a:t>siero</a:t>
            </a:r>
            <a:r>
              <a:rPr lang="en-US" b="1" dirty="0"/>
              <a:t> </a:t>
            </a:r>
            <a:r>
              <a:rPr lang="en-US" b="1" dirty="0" err="1"/>
              <a:t>espulso</a:t>
            </a:r>
            <a:r>
              <a:rPr lang="en-US" b="1" dirty="0"/>
              <a:t> → </a:t>
            </a:r>
            <a:r>
              <a:rPr lang="en-US" b="1" dirty="0" err="1"/>
              <a:t>resa</a:t>
            </a:r>
            <a:r>
              <a:rPr lang="en-US" b="1" dirty="0"/>
              <a:t> 12,17%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r>
              <a:rPr lang="en-US" b="1" dirty="0"/>
              <a:t>S2</a:t>
            </a:r>
            <a:r>
              <a:rPr lang="en-US" dirty="0"/>
              <a:t> </a:t>
            </a:r>
            <a:r>
              <a:rPr lang="en-US" dirty="0" err="1"/>
              <a:t>aveva</a:t>
            </a:r>
            <a:r>
              <a:rPr lang="en-US" dirty="0"/>
              <a:t> MFR32 </a:t>
            </a:r>
            <a:r>
              <a:rPr lang="en-US" dirty="0" err="1"/>
              <a:t>dominante</a:t>
            </a:r>
            <a:r>
              <a:rPr lang="en-US" dirty="0"/>
              <a:t> (1:2). I </a:t>
            </a:r>
            <a:r>
              <a:rPr lang="en-US" dirty="0" err="1"/>
              <a:t>batteri</a:t>
            </a:r>
            <a:r>
              <a:rPr lang="en-US" dirty="0"/>
              <a:t> </a:t>
            </a:r>
            <a:r>
              <a:rPr lang="en-US" dirty="0" err="1"/>
              <a:t>sono</a:t>
            </a:r>
            <a:r>
              <a:rPr lang="en-US" dirty="0"/>
              <a:t> </a:t>
            </a:r>
            <a:r>
              <a:rPr lang="en-US" dirty="0" err="1"/>
              <a:t>cresciuti</a:t>
            </a:r>
            <a:r>
              <a:rPr lang="en-US" dirty="0"/>
              <a:t> molto </a:t>
            </a:r>
            <a:r>
              <a:rPr lang="en-US" dirty="0" err="1"/>
              <a:t>più</a:t>
            </a:r>
            <a:r>
              <a:rPr lang="en-US" dirty="0"/>
              <a:t> in </a:t>
            </a:r>
            <a:r>
              <a:rPr lang="en-US" dirty="0" err="1"/>
              <a:t>fretta</a:t>
            </a:r>
            <a:r>
              <a:rPr lang="en-US" dirty="0"/>
              <a:t> (μ altissimo) ma </a:t>
            </a:r>
            <a:r>
              <a:rPr lang="en-US" dirty="0" err="1"/>
              <a:t>hanno</a:t>
            </a:r>
            <a:r>
              <a:rPr lang="en-US" dirty="0"/>
              <a:t> </a:t>
            </a:r>
            <a:r>
              <a:rPr lang="en-US" dirty="0" err="1"/>
              <a:t>prodotto</a:t>
            </a:r>
            <a:r>
              <a:rPr lang="en-US" dirty="0"/>
              <a:t> </a:t>
            </a:r>
            <a:r>
              <a:rPr lang="en-US" dirty="0" err="1"/>
              <a:t>acido</a:t>
            </a:r>
            <a:r>
              <a:rPr lang="en-US" dirty="0"/>
              <a:t> </a:t>
            </a:r>
            <a:r>
              <a:rPr lang="en-US" b="1" dirty="0" err="1"/>
              <a:t>soprattutto</a:t>
            </a:r>
            <a:r>
              <a:rPr lang="en-US" b="1" dirty="0"/>
              <a:t> dopo</a:t>
            </a:r>
            <a:r>
              <a:rPr lang="en-US" dirty="0"/>
              <a:t> la </a:t>
            </a:r>
            <a:r>
              <a:rPr lang="en-US" dirty="0" err="1"/>
              <a:t>crescita</a:t>
            </a:r>
            <a:r>
              <a:rPr lang="en-US" dirty="0"/>
              <a:t> (β&gt;α), </a:t>
            </a:r>
            <a:r>
              <a:rPr lang="en-US" dirty="0" err="1"/>
              <a:t>l'acidificazione</a:t>
            </a:r>
            <a:r>
              <a:rPr lang="en-US" dirty="0"/>
              <a:t> è </a:t>
            </a:r>
            <a:r>
              <a:rPr lang="en-US" dirty="0" err="1"/>
              <a:t>arrivata</a:t>
            </a:r>
            <a:r>
              <a:rPr lang="en-US" dirty="0"/>
              <a:t> </a:t>
            </a:r>
            <a:r>
              <a:rPr lang="en-US" dirty="0" err="1"/>
              <a:t>tardi</a:t>
            </a:r>
            <a:r>
              <a:rPr lang="en-US" dirty="0"/>
              <a:t> → il </a:t>
            </a:r>
            <a:r>
              <a:rPr lang="en-US" dirty="0" err="1"/>
              <a:t>caglio</a:t>
            </a:r>
            <a:r>
              <a:rPr lang="en-US" dirty="0"/>
              <a:t> ha </a:t>
            </a:r>
            <a:r>
              <a:rPr lang="en-US" dirty="0" err="1"/>
              <a:t>avuto</a:t>
            </a:r>
            <a:r>
              <a:rPr lang="en-US" dirty="0"/>
              <a:t> </a:t>
            </a:r>
            <a:r>
              <a:rPr lang="en-US" dirty="0" err="1"/>
              <a:t>meno</a:t>
            </a:r>
            <a:r>
              <a:rPr lang="en-US" dirty="0"/>
              <a:t> tempo per </a:t>
            </a:r>
            <a:r>
              <a:rPr lang="en-US" dirty="0" err="1"/>
              <a:t>espellere</a:t>
            </a:r>
            <a:r>
              <a:rPr lang="en-US" dirty="0"/>
              <a:t> </a:t>
            </a:r>
            <a:r>
              <a:rPr lang="en-US" dirty="0" err="1"/>
              <a:t>siero</a:t>
            </a:r>
            <a:r>
              <a:rPr lang="en-US" dirty="0"/>
              <a:t> </a:t>
            </a:r>
            <a:r>
              <a:rPr lang="en-US" dirty="0" err="1"/>
              <a:t>nell'arco</a:t>
            </a:r>
            <a:r>
              <a:rPr lang="en-US" dirty="0"/>
              <a:t> </a:t>
            </a:r>
            <a:r>
              <a:rPr lang="en-US" dirty="0" err="1"/>
              <a:t>ottimale</a:t>
            </a:r>
            <a:r>
              <a:rPr lang="en-US" dirty="0"/>
              <a:t> → </a:t>
            </a:r>
            <a:r>
              <a:rPr lang="en-US" b="1" dirty="0" err="1"/>
              <a:t>meno</a:t>
            </a:r>
            <a:r>
              <a:rPr lang="en-US" b="1" dirty="0"/>
              <a:t> </a:t>
            </a:r>
            <a:r>
              <a:rPr lang="en-US" b="1" dirty="0" err="1"/>
              <a:t>resa</a:t>
            </a:r>
            <a:r>
              <a:rPr lang="en-US" b="1" dirty="0"/>
              <a:t>: 11,80%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b="1" dirty="0"/>
              <a:t>MFR = </a:t>
            </a:r>
            <a:r>
              <a:rPr lang="en-US" b="1" dirty="0" err="1"/>
              <a:t>Mésophile</a:t>
            </a:r>
            <a:r>
              <a:rPr lang="en-US" b="1" dirty="0"/>
              <a:t> à Fermentation </a:t>
            </a:r>
            <a:r>
              <a:rPr lang="en-US" b="1" dirty="0" err="1"/>
              <a:t>Rapide</a:t>
            </a:r>
            <a:endParaRPr lang="en-US" dirty="0" err="1"/>
          </a:p>
          <a:p>
            <a:r>
              <a:rPr lang="en-US" dirty="0"/>
              <a:t>Sono ferments </a:t>
            </a:r>
            <a:r>
              <a:rPr lang="en-US" dirty="0" err="1"/>
              <a:t>lactiques</a:t>
            </a:r>
            <a:r>
              <a:rPr lang="en-US" dirty="0"/>
              <a:t> </a:t>
            </a:r>
            <a:r>
              <a:rPr lang="en-US" b="1" dirty="0" err="1"/>
              <a:t>mesofili</a:t>
            </a:r>
            <a:r>
              <a:rPr lang="en-US" dirty="0"/>
              <a:t> (</a:t>
            </a:r>
            <a:r>
              <a:rPr lang="en-US" dirty="0" err="1"/>
              <a:t>lavorano</a:t>
            </a:r>
            <a:r>
              <a:rPr lang="en-US" dirty="0"/>
              <a:t> a </a:t>
            </a:r>
            <a:r>
              <a:rPr lang="en-US" dirty="0" err="1"/>
              <a:t>temperatura</a:t>
            </a:r>
            <a:r>
              <a:rPr lang="en-US" dirty="0"/>
              <a:t> media, ~28–38°C) </a:t>
            </a:r>
            <a:r>
              <a:rPr lang="en-US" dirty="0" err="1"/>
              <a:t>usati</a:t>
            </a:r>
            <a:r>
              <a:rPr lang="en-US" dirty="0"/>
              <a:t> </a:t>
            </a:r>
            <a:r>
              <a:rPr lang="en-US" dirty="0" err="1"/>
              <a:t>nella</a:t>
            </a:r>
            <a:r>
              <a:rPr lang="en-US" dirty="0"/>
              <a:t> </a:t>
            </a:r>
            <a:r>
              <a:rPr lang="en-US" dirty="0" err="1"/>
              <a:t>produzione</a:t>
            </a:r>
            <a:r>
              <a:rPr lang="en-US" dirty="0"/>
              <a:t> di </a:t>
            </a:r>
            <a:r>
              <a:rPr lang="en-US" dirty="0" err="1"/>
              <a:t>formaggi</a:t>
            </a:r>
            <a:r>
              <a:rPr lang="en-US" dirty="0"/>
              <a:t> a pasta </a:t>
            </a:r>
            <a:r>
              <a:rPr lang="en-US" dirty="0" err="1"/>
              <a:t>pressata</a:t>
            </a:r>
            <a:r>
              <a:rPr lang="en-US" dirty="0"/>
              <a:t> come la Raclette. Il </a:t>
            </a:r>
            <a:r>
              <a:rPr lang="en-US" dirty="0" err="1"/>
              <a:t>numero</a:t>
            </a:r>
            <a:r>
              <a:rPr lang="en-US" dirty="0"/>
              <a:t> indica </a:t>
            </a:r>
            <a:r>
              <a:rPr lang="en-US" dirty="0" err="1"/>
              <a:t>probabilmente</a:t>
            </a:r>
            <a:r>
              <a:rPr lang="en-US" dirty="0"/>
              <a:t> la </a:t>
            </a:r>
            <a:r>
              <a:rPr lang="en-US" b="1" dirty="0" err="1"/>
              <a:t>temperatura</a:t>
            </a:r>
            <a:r>
              <a:rPr lang="en-US" b="1" dirty="0"/>
              <a:t> </a:t>
            </a:r>
            <a:r>
              <a:rPr lang="en-US" b="1" dirty="0" err="1"/>
              <a:t>ottimale</a:t>
            </a:r>
            <a:r>
              <a:rPr lang="en-US" b="1" dirty="0"/>
              <a:t> di </a:t>
            </a:r>
            <a:r>
              <a:rPr lang="en-US" b="1" dirty="0" err="1"/>
              <a:t>lavoro</a:t>
            </a:r>
            <a:r>
              <a:rPr lang="en-US" dirty="0"/>
              <a:t>:</a:t>
            </a:r>
            <a:endParaRPr lang="en-US" dirty="0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 b="1" dirty="0"/>
              <a:t>MFR38</a:t>
            </a:r>
            <a:r>
              <a:rPr lang="en-US" dirty="0"/>
              <a:t> → </a:t>
            </a:r>
            <a:r>
              <a:rPr lang="en-US" dirty="0" err="1"/>
              <a:t>ottimale</a:t>
            </a:r>
            <a:r>
              <a:rPr lang="en-US" dirty="0"/>
              <a:t> </a:t>
            </a:r>
            <a:r>
              <a:rPr lang="en-US" dirty="0" err="1"/>
              <a:t>attorno</a:t>
            </a:r>
            <a:r>
              <a:rPr lang="en-US" dirty="0"/>
              <a:t> a </a:t>
            </a:r>
            <a:r>
              <a:rPr lang="en-US" b="1" dirty="0"/>
              <a:t>38°C</a:t>
            </a:r>
            <a:r>
              <a:rPr lang="en-US" dirty="0"/>
              <a:t> (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termofilo</a:t>
            </a:r>
            <a:r>
              <a:rPr lang="en-US" dirty="0"/>
              <a:t> del </a:t>
            </a:r>
            <a:r>
              <a:rPr lang="en-US" dirty="0" err="1"/>
              <a:t>gruppo</a:t>
            </a:r>
            <a:r>
              <a:rPr lang="en-US" dirty="0"/>
              <a:t>)</a:t>
            </a:r>
            <a:endParaRPr lang="en-US" dirty="0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 b="1" dirty="0"/>
              <a:t>MFR32</a:t>
            </a:r>
            <a:r>
              <a:rPr lang="en-US" dirty="0"/>
              <a:t> → </a:t>
            </a:r>
            <a:r>
              <a:rPr lang="en-US" dirty="0" err="1"/>
              <a:t>ottimale</a:t>
            </a:r>
            <a:r>
              <a:rPr lang="en-US" dirty="0"/>
              <a:t> </a:t>
            </a:r>
            <a:r>
              <a:rPr lang="en-US" dirty="0" err="1"/>
              <a:t>attorno</a:t>
            </a:r>
            <a:r>
              <a:rPr lang="en-US" dirty="0"/>
              <a:t> a </a:t>
            </a:r>
            <a:r>
              <a:rPr lang="en-US" b="1" dirty="0"/>
              <a:t>32°C</a:t>
            </a:r>
            <a:r>
              <a:rPr lang="en-US" dirty="0"/>
              <a:t> (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mesofilo</a:t>
            </a:r>
            <a:r>
              <a:rPr lang="en-US" dirty="0"/>
              <a:t> classico)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68B14-85B0-02D9-67BB-1C839D34C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94C13F-9962-066F-399F-CBB5D19594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5DE911-4AD0-ED16-8740-0F67AB2D74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25CB17-F7EF-B05B-4DB9-EA9A5CB2BF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0297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pii/S0022030284814861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mdpi.com/2076-2607/8/9/1266" TargetMode="External"/><Relationship Id="rId4" Type="http://schemas.openxmlformats.org/officeDocument/2006/relationships/hyperlink" Target="https://www.journalofdairyscience.org/article/S0022-0302(89)79247-X/fulltex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A2E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57200"/>
            <a:ext cx="320040" cy="320040"/>
          </a:xfrm>
          <a:prstGeom prst="ellipse">
            <a:avLst/>
          </a:prstGeom>
          <a:solidFill>
            <a:srgbClr val="A7BEAE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57200"/>
            <a:ext cx="320040" cy="320040"/>
          </a:xfrm>
          <a:prstGeom prst="ellipse">
            <a:avLst/>
          </a:prstGeom>
          <a:solidFill>
            <a:srgbClr val="A7BEAE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155680" y="457200"/>
            <a:ext cx="320040" cy="320040"/>
          </a:xfrm>
          <a:prstGeom prst="ellipse">
            <a:avLst/>
          </a:prstGeom>
          <a:solidFill>
            <a:srgbClr val="A7BEAE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875520" y="1097280"/>
            <a:ext cx="320040" cy="320040"/>
          </a:xfrm>
          <a:prstGeom prst="ellipse">
            <a:avLst/>
          </a:prstGeom>
          <a:solidFill>
            <a:srgbClr val="A7BEAE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0" y="1097280"/>
            <a:ext cx="320040" cy="320040"/>
          </a:xfrm>
          <a:prstGeom prst="ellipse">
            <a:avLst/>
          </a:prstGeom>
          <a:solidFill>
            <a:srgbClr val="A7BEAE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155680" y="1097280"/>
            <a:ext cx="320040" cy="320040"/>
          </a:xfrm>
          <a:prstGeom prst="ellipse">
            <a:avLst/>
          </a:prstGeom>
          <a:solidFill>
            <a:srgbClr val="A7BEAE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554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EXPÉRIMENTALE · 2 SESSIONS · 2026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01168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7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Profils d'Acidification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7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 Qualité du Fromage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822960" y="44348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E7E8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Comment la cinétique d'acidification des ferments prédit-elle la qualité finale ?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2960" y="57607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Auteurs   </a:t>
            </a:r>
            <a:r>
              <a:rPr lang="en-US" sz="130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Lilandra Albert-Lavault &amp; Samuele Moungang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   </a:t>
            </a:r>
            <a:r>
              <a:rPr lang="en-US" sz="130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Dimitri Bocquel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Pourquoi suivre l'acidification 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577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L'acidification</a:t>
            </a:r>
            <a:r>
              <a:rPr lang="en-US" sz="1500" dirty="0">
                <a:solidFill>
                  <a:srgbClr val="2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pilotée par les ferments lactiques, est la phase critique de la fabrication : elle détermine la </a:t>
            </a:r>
            <a:r>
              <a:rPr lang="en-US" sz="1500" b="1" dirty="0">
                <a:solidFill>
                  <a:srgbClr val="2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texture</a:t>
            </a:r>
            <a:r>
              <a:rPr lang="en-US" sz="1500" dirty="0">
                <a:solidFill>
                  <a:srgbClr val="2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le </a:t>
            </a:r>
            <a:r>
              <a:rPr lang="en-US" sz="1500" b="1" dirty="0">
                <a:solidFill>
                  <a:srgbClr val="2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rendement</a:t>
            </a:r>
            <a:r>
              <a:rPr lang="en-US" sz="1500" dirty="0">
                <a:solidFill>
                  <a:srgbClr val="2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la </a:t>
            </a:r>
            <a:r>
              <a:rPr lang="en-US" sz="1500" b="1" dirty="0">
                <a:solidFill>
                  <a:srgbClr val="2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saveur</a:t>
            </a:r>
            <a:r>
              <a:rPr lang="en-US" sz="1500" dirty="0">
                <a:solidFill>
                  <a:srgbClr val="2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la </a:t>
            </a:r>
            <a:r>
              <a:rPr lang="en-US" sz="1500" b="1" dirty="0">
                <a:solidFill>
                  <a:srgbClr val="2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r>
              <a:rPr lang="en-US" sz="1500" dirty="0">
                <a:solidFill>
                  <a:srgbClr val="2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 produit fini.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338328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question de recherche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7490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2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Peut-on extraire, à partir d'une simple sonde pH en ligne, des paramètres cinétiques quantitatifs qui prédisent la qualité finale du fromage (rendement, texture) 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0" y="1783080"/>
            <a:ext cx="4663440" cy="4480560"/>
          </a:xfrm>
          <a:prstGeom prst="rect">
            <a:avLst/>
          </a:prstGeom>
          <a:solidFill>
            <a:srgbClr val="B85042"/>
          </a:solidFill>
          <a:ln/>
          <a:effectLst>
            <a:outerShdw blurRad="1524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78040" y="2057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CHAÎNE LOGIQUE DE L'ÉTUDE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178040" y="2560320"/>
            <a:ext cx="365760" cy="365760"/>
          </a:xfrm>
          <a:prstGeom prst="ellipse">
            <a:avLst/>
          </a:prstGeom>
          <a:solidFill>
            <a:srgbClr val="F7F4EC"/>
          </a:solidFill>
          <a:ln/>
        </p:spPr>
      </p:sp>
      <p:sp>
        <p:nvSpPr>
          <p:cNvPr id="10" name="Text 8"/>
          <p:cNvSpPr/>
          <p:nvPr/>
        </p:nvSpPr>
        <p:spPr>
          <a:xfrm>
            <a:off x="717804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80960" y="25146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Ferments lactiques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69480" y="29260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7E8D1"/>
                </a:solidFill>
              </a:rPr>
              <a:t>↓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178040" y="3474720"/>
            <a:ext cx="365760" cy="365760"/>
          </a:xfrm>
          <a:prstGeom prst="ellipse">
            <a:avLst/>
          </a:prstGeom>
          <a:solidFill>
            <a:srgbClr val="F7F4EC"/>
          </a:solidFill>
          <a:ln/>
        </p:spPr>
      </p:sp>
      <p:sp>
        <p:nvSpPr>
          <p:cNvPr id="14" name="Text 12"/>
          <p:cNvSpPr/>
          <p:nvPr/>
        </p:nvSpPr>
        <p:spPr>
          <a:xfrm>
            <a:off x="717804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680960" y="34290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Cinétique d'acidification (pH)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269480" y="38404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7E8D1"/>
                </a:solidFill>
              </a:rPr>
              <a:t>↓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178040" y="4389120"/>
            <a:ext cx="365760" cy="365760"/>
          </a:xfrm>
          <a:prstGeom prst="ellipse">
            <a:avLst/>
          </a:prstGeom>
          <a:solidFill>
            <a:srgbClr val="F7F4EC"/>
          </a:solidFill>
          <a:ln/>
        </p:spPr>
      </p:sp>
      <p:sp>
        <p:nvSpPr>
          <p:cNvPr id="18" name="Text 16"/>
          <p:cNvSpPr/>
          <p:nvPr/>
        </p:nvSpPr>
        <p:spPr>
          <a:xfrm>
            <a:off x="7178040" y="4389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80960" y="43434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du modèle (k, t₀, μ, α, β)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269480" y="47548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7E8D1"/>
                </a:solidFill>
              </a:rPr>
              <a:t>↓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178040" y="5303520"/>
            <a:ext cx="365760" cy="365760"/>
          </a:xfrm>
          <a:prstGeom prst="ellipse">
            <a:avLst/>
          </a:prstGeom>
          <a:solidFill>
            <a:srgbClr val="F7F4EC"/>
          </a:solidFill>
          <a:ln/>
        </p:spPr>
      </p:sp>
      <p:sp>
        <p:nvSpPr>
          <p:cNvPr id="22" name="Text 20"/>
          <p:cNvSpPr/>
          <p:nvPr/>
        </p:nvSpPr>
        <p:spPr>
          <a:xfrm>
            <a:off x="7178040" y="5303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680960" y="52578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finale (rendement, texture)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MATÉRIEL &amp; MÉTHODES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Trois sondes, deux sessions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661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783080"/>
            <a:ext cx="3566160" cy="685800"/>
          </a:xfrm>
          <a:prstGeom prst="rect">
            <a:avLst/>
          </a:prstGeom>
          <a:solidFill>
            <a:srgbClr val="C97B4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938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USB Logger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77240" y="26517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 · pH, mV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30175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en zone de surface ; T° de calibration supposée 35 °C.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97680" y="1783080"/>
            <a:ext cx="35661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0" y="1783080"/>
            <a:ext cx="3566160" cy="6858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92938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Server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572000" y="26517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s · pH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0" y="30175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Haute densité mais lacunes ; pré-agrégé à 1 min par médiane.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92440" y="1783080"/>
            <a:ext cx="35661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92440" y="1783080"/>
            <a:ext cx="3566160" cy="685800"/>
          </a:xfrm>
          <a:prstGeom prst="rect">
            <a:avLst/>
          </a:prstGeom>
          <a:solidFill>
            <a:srgbClr val="6B8E80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192938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Hannah (PHLOT)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366760" y="26517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 · pH, mV, T°C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66760" y="30175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 ATC interne → sonde de référence la plus fiable.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Deux sessions de fabrication réelles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5047488"/>
            <a:ext cx="109728" cy="502920"/>
          </a:xfrm>
          <a:prstGeom prst="rect">
            <a:avLst/>
          </a:prstGeom>
          <a:solidFill>
            <a:srgbClr val="C97B4A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0292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— 28 avril 2026   </a:t>
            </a:r>
            <a:r>
              <a:rPr lang="en-US" sz="1300" dirty="0">
                <a:solidFill>
                  <a:srgbClr val="2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282 kg de lait · ferments MFR38/MFR32 = 3,45:1 · moulage à 11h36 · rendement 12,17 %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5705856"/>
            <a:ext cx="109728" cy="502920"/>
          </a:xfrm>
          <a:prstGeom prst="rect">
            <a:avLst/>
          </a:prstGeom>
          <a:solidFill>
            <a:srgbClr val="6B8E80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568756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8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— 5 mai 2026   </a:t>
            </a:r>
            <a:r>
              <a:rPr lang="en-US" sz="1300" dirty="0">
                <a:solidFill>
                  <a:srgbClr val="2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ferments MFR38/MFR32 = 1:2 (MFR32-dominant) · rendement 11,80 %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pipeline reproductible en 4 étapes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34340" y="1874520"/>
            <a:ext cx="2651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48740" y="2194560"/>
            <a:ext cx="822960" cy="8229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134874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7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17220" y="3200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B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Chargement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62940" y="37033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6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des CSV, filtrage des artefacts, fenêtre d'acidification active.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04388" y="2880360"/>
            <a:ext cx="228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B8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314700" y="1874520"/>
            <a:ext cx="2651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29100" y="2194560"/>
            <a:ext cx="822960" cy="8229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2" name="Text 10"/>
          <p:cNvSpPr/>
          <p:nvPr/>
        </p:nvSpPr>
        <p:spPr>
          <a:xfrm>
            <a:off x="422910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7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497580" y="3200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B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Interpolation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543300" y="37033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6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Combler les lacunes du Server sur grille régulière à 1 min.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84748" y="2880360"/>
            <a:ext cx="228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B8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6195060" y="1874520"/>
            <a:ext cx="2651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09460" y="2194560"/>
            <a:ext cx="822960" cy="8229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8" name="Text 16"/>
          <p:cNvSpPr/>
          <p:nvPr/>
        </p:nvSpPr>
        <p:spPr>
          <a:xfrm>
            <a:off x="710946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7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377940" y="3200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B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Resampling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23660" y="37033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 err="1">
                <a:solidFill>
                  <a:srgbClr val="6E6B63"/>
                </a:solidFill>
                <a:latin typeface="Calibri"/>
                <a:ea typeface="Calibri"/>
                <a:cs typeface="Calibri"/>
              </a:rPr>
              <a:t>Médiane</a:t>
            </a:r>
            <a:r>
              <a:rPr lang="en-US" sz="1200" dirty="0">
                <a:solidFill>
                  <a:srgbClr val="6E6B63"/>
                </a:solidFill>
                <a:latin typeface="Calibri"/>
                <a:ea typeface="Calibri"/>
                <a:cs typeface="Calibri"/>
              </a:rPr>
              <a:t> 1 min commune </a:t>
            </a:r>
          </a:p>
        </p:txBody>
      </p:sp>
      <p:sp>
        <p:nvSpPr>
          <p:cNvPr id="21" name="Text 19"/>
          <p:cNvSpPr/>
          <p:nvPr/>
        </p:nvSpPr>
        <p:spPr>
          <a:xfrm>
            <a:off x="8865108" y="2880360"/>
            <a:ext cx="228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B8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9075420" y="1874520"/>
            <a:ext cx="2651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989820" y="2194560"/>
            <a:ext cx="822960" cy="8229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4" name="Text 22"/>
          <p:cNvSpPr/>
          <p:nvPr/>
        </p:nvSpPr>
        <p:spPr>
          <a:xfrm>
            <a:off x="998982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7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9258300" y="3200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B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Correction Nernst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304020" y="37033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6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Corriger le pH selon la T° réelle de l'électrode (Kelvin).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5120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Puis deux modèles sont ajustés sur la courbe pH corrigée :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" y="55321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Déclin logistique</a:t>
            </a:r>
            <a:r>
              <a:rPr lang="en-US" sz="1300" dirty="0">
                <a:solidFill>
                  <a:srgbClr val="2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(L, k, t₀) — forme sigmoïde de la descente du pH        </a:t>
            </a:r>
            <a:r>
              <a:rPr lang="en-US" sz="1300" b="1" dirty="0">
                <a:solidFill>
                  <a:srgbClr val="6B8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Luedeking-Piret (EDO)</a:t>
            </a:r>
            <a:r>
              <a:rPr lang="en-US" sz="1300" dirty="0">
                <a:solidFill>
                  <a:srgbClr val="2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(μ, α, β) — production d'acide vs croissance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· PROFILS PH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Deux sessions, deux cinétiques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783080"/>
          <a:ext cx="740664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275320" y="1783080"/>
            <a:ext cx="3246120" cy="4297680"/>
          </a:xfrm>
          <a:prstGeom prst="rect">
            <a:avLst/>
          </a:prstGeom>
          <a:solidFill>
            <a:srgbClr val="E7E8D1"/>
          </a:solidFill>
          <a:ln/>
        </p:spPr>
      </p:sp>
      <p:sp>
        <p:nvSpPr>
          <p:cNvPr id="6" name="Text 3"/>
          <p:cNvSpPr/>
          <p:nvPr/>
        </p:nvSpPr>
        <p:spPr>
          <a:xfrm>
            <a:off x="854964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JALONS D'ACIDIFICATION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9966960" y="2423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698480" y="2423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8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549640" y="2743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ΔpH total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875520" y="2743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0,89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607040" y="2743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1,27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549640" y="34015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→ pH 5,5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9875520" y="340156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1,38 h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0607040" y="340156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2,18 h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549640" y="405993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→ pH 5,3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9875520" y="405993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2,10 h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607040" y="405993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3,12 h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549640" y="471830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Vitesse max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9875520" y="471830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21,3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0607040" y="471830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22,2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549640" y="5440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6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session 2 acidifie plus lentement et atteint les seuils plus tard.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· MODÈLE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Déclin logistique : forme de la courbe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486400" cy="1371600"/>
          </a:xfrm>
          <a:prstGeom prst="rect">
            <a:avLst/>
          </a:prstGeom>
          <a:solidFill>
            <a:srgbClr val="7A2E22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057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F7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pH(t) = L + (pH₀ − L) / (1 + e^(k(t−t₀)))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606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en-US" sz="1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plateau (pH final)   </a:t>
            </a:r>
            <a:r>
              <a:rPr lang="en-US" sz="1200" b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1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vitesse   </a:t>
            </a:r>
            <a:r>
              <a:rPr lang="en-US" sz="1200" b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t₀</a:t>
            </a:r>
            <a:r>
              <a:rPr lang="en-US" sz="1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inflexion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3474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Paramètres ajustés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3931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68880" y="3931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0" y="3931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8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42519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42519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plateau pH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68880" y="42519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5,078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0" y="42519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5,196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80560" y="4251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reste moins acide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47548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47548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vitesse (h⁻¹)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68880" y="47548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0,92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74720" y="47548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1,69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480560" y="47548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acidifie plus vite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" y="52578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t₀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88720" y="52578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inflexion (h)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468880" y="52578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−2,87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74720" y="52578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1,77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480560" y="52578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pics décalés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0080" y="57607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R²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8720" y="57607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du fit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468880" y="57607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0,987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474720" y="57607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0,957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480560" y="57607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ajustement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583680" y="1783080"/>
            <a:ext cx="4937760" cy="4251960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0" y="20116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INTERPRÉTATION POUR LA QUALITÉ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58000" y="24688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— plateau pH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858000" y="2816352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reflète l'acidité finale de la pâte → lié à la texture et à la conservation.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858000" y="36118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— vitesse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858000" y="3959352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caractérise l'activité des ferments (type, ratio, température).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858000" y="47548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t₀ — inflexion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858000" y="5102352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 le pic d'acidification → utile pour le timing du moulage.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· MODÈLE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Luedeking-Piret : acide vs croissance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486400" cy="1645920"/>
          </a:xfrm>
          <a:prstGeom prst="rect">
            <a:avLst/>
          </a:prstGeom>
          <a:solidFill>
            <a:srgbClr val="7A2E22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65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200">
                <a:solidFill>
                  <a:srgbClr val="A7BEAE"/>
                </a:solidFill>
                <a:latin typeface="Calibri"/>
                <a:ea typeface="Calibri"/>
                <a:cs typeface="Calibri"/>
              </a:rPr>
              <a:t>SYSTÈME D'EDO</a:t>
            </a:r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F7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dX/dt = μ · X · (1 − X)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F7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dA/dt = α · dX/dt + β · X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31272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biomasse normalisée · A = pH₀ − pH(t) (proxy acide lactique)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Paramètres identifiés (Nelder-Mead + RK45)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0" y="4069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749040" y="4069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8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436168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μ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436168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croissance (h⁻¹)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0" y="436168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7,09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49040" y="436168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25,26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481888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α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481888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liée croissance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0" y="481888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0,653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749040" y="481888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0,036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527608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β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34440" y="527608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indép. croissance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0" y="527608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0,000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749040" y="527608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0,308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573328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R²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34440" y="573328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du fit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743200" y="573328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0,830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749040" y="573328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0,976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583680" y="1783080"/>
            <a:ext cx="4937760" cy="4251960"/>
          </a:xfrm>
          <a:prstGeom prst="rect">
            <a:avLst/>
          </a:prstGeom>
          <a:solidFill>
            <a:srgbClr val="E7E8D1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0" y="20116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LES PARAMÈTRES RÉVÈLENT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0" y="242316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C9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</a:t>
            </a:r>
            <a:r>
              <a:rPr lang="en-US" sz="1300" dirty="0">
                <a:solidFill>
                  <a:srgbClr val="2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(α ≫ β, β≈0) : acidification </a:t>
            </a:r>
            <a:r>
              <a:rPr lang="en-US" sz="1300" b="1" dirty="0">
                <a:solidFill>
                  <a:srgbClr val="2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entièrement liée à la croissance</a:t>
            </a:r>
            <a:r>
              <a:rPr lang="en-US" sz="1300" dirty="0">
                <a:solidFill>
                  <a:srgbClr val="2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phase exponentielle dominante.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58000" y="352044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6B8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</a:t>
            </a:r>
            <a:r>
              <a:rPr lang="en-US" sz="1300" dirty="0">
                <a:solidFill>
                  <a:srgbClr val="2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(β &gt; α) : forte composante </a:t>
            </a:r>
            <a:r>
              <a:rPr lang="en-US" sz="1300" b="1" dirty="0">
                <a:solidFill>
                  <a:srgbClr val="2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indépendante de la croissance</a:t>
            </a:r>
            <a:r>
              <a:rPr lang="en-US" sz="1300" dirty="0">
                <a:solidFill>
                  <a:srgbClr val="2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activité résiduelle en phase stationnaire.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58000" y="466344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6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modèles s'ajustent bien (R² = 0,83–0,98 sur Hannah), confirmant le modèle croissance + maintenance.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· HYPOTHÈSE CENTRALE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ratio des ferments pilote le rendement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34440" y="1783080"/>
            <a:ext cx="4572000" cy="3017520"/>
          </a:xfrm>
          <a:prstGeom prst="rect">
            <a:avLst/>
          </a:prstGeom>
          <a:solidFill>
            <a:srgbClr val="FFFFFF"/>
          </a:solidFill>
          <a:ln w="25400">
            <a:solidFill>
              <a:srgbClr val="C97B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4440" y="1783080"/>
            <a:ext cx="4572000" cy="594360"/>
          </a:xfrm>
          <a:prstGeom prst="rect">
            <a:avLst/>
          </a:prstGeom>
          <a:solidFill>
            <a:srgbClr val="C97B4A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78308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 1 — 28/04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08760" y="25603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MFR38 / MFR32 = 3,45 : 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28803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MFR38-dominant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08760" y="32004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C97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12,17</a:t>
            </a:r>
            <a:r>
              <a:rPr lang="en-US" sz="2000" b="1" dirty="0">
                <a:solidFill>
                  <a:srgbClr val="C97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%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840480" y="320040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rendement frais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08760" y="40690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0,92 h⁻¹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= 7,09 h⁻¹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≫ β (β ≈ 0)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55080" y="1783080"/>
            <a:ext cx="4572000" cy="3017520"/>
          </a:xfrm>
          <a:prstGeom prst="rect">
            <a:avLst/>
          </a:prstGeom>
          <a:solidFill>
            <a:srgbClr val="FFFFFF"/>
          </a:solidFill>
          <a:ln w="25400">
            <a:solidFill>
              <a:srgbClr val="6B8E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55080" y="1783080"/>
            <a:ext cx="4572000" cy="594360"/>
          </a:xfrm>
          <a:prstGeom prst="rect">
            <a:avLst/>
          </a:prstGeom>
          <a:solidFill>
            <a:srgbClr val="6B8E80"/>
          </a:solidFill>
          <a:ln/>
        </p:spPr>
      </p:sp>
      <p:sp>
        <p:nvSpPr>
          <p:cNvPr id="14" name="Text 12"/>
          <p:cNvSpPr/>
          <p:nvPr/>
        </p:nvSpPr>
        <p:spPr>
          <a:xfrm>
            <a:off x="6629400" y="178308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 2 — 05/05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629400" y="25603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MFR38 / MFR32 = 1 : 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29400" y="28803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MFR32-dominant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29400" y="32004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6B8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11,80</a:t>
            </a:r>
            <a:r>
              <a:rPr lang="en-US" sz="2000" b="1" dirty="0">
                <a:solidFill>
                  <a:srgbClr val="6B8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%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8961120" y="320040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rendement frais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29400" y="40690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1,69 h⁻¹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= 25,3 h⁻¹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&gt; α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029200"/>
            <a:ext cx="10881360" cy="1188720"/>
          </a:xfrm>
          <a:prstGeom prst="rect">
            <a:avLst/>
          </a:prstGeom>
          <a:solidFill>
            <a:srgbClr val="E7E8D1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1663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Hypothèse :  </a:t>
            </a:r>
            <a:r>
              <a:rPr lang="en-US" sz="1350" dirty="0">
                <a:solidFill>
                  <a:srgbClr val="2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ratio des ferments est le candidat le plus fort pour expliquer l'écart de rendement (12,17 % vs 11,80 %), davantage que la température ou le positionnement des sondes. Un ferment MFR38-dominant donne une acidification liée à la croissance et un rendement supérieur.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· ESPRIT CRITIQUE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Erreurs expérimentales &amp; limites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94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109728" cy="16916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011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Sur-inoculation (S1)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242316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de ferments que prévu au protocole → acidification accélérée. Le rendement élevé de S1 est probablement un artefact de la dose, pas une vraie amélioration.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1828800"/>
            <a:ext cx="5394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09360" y="1828800"/>
            <a:ext cx="109728" cy="16916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6629400" y="2011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Doses non contrôlées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29400" y="242316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L'écart S1 vs S2 confond effet de dose et effet de ratio. Pour isoler le ratio, la dose totale doit être maintenue constante.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175096" y="3766005"/>
            <a:ext cx="5394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75096" y="3766005"/>
            <a:ext cx="109728" cy="16916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8" name="Text 16"/>
          <p:cNvSpPr/>
          <p:nvPr/>
        </p:nvSpPr>
        <p:spPr>
          <a:xfrm>
            <a:off x="3495136" y="3948885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Seulement 2 sessions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495136" y="4360365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significativité statistique : toutes les corrélations sont exploratoires. Il faut ≥ 5 sessions pour calibrer des seuils.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6B8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: la sonde Hannah concorde avec les mesures manuelles à ±0,03 pH — la chaîne de correction est fiable.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Vers un indicateur qualité pour la Raclette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Raclette est une pâte mi-dure à croûte lavée : le pH au moulage (~5,0–5,2) et la courbe d'acidification gouvernent texture, rendement et développement de la croûte.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d'indicateur proposé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6B8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Sonde pH en ligne  →  pipeline 4 étapes  →  fit logistique + EDO LP  →  score qualité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3867912"/>
            <a:ext cx="292608" cy="292608"/>
          </a:xfrm>
          <a:prstGeom prst="ellipse">
            <a:avLst/>
          </a:prstGeom>
          <a:solidFill>
            <a:srgbClr val="6B8E8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867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3840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&lt; 5,15   </a:t>
            </a:r>
            <a:r>
              <a:rPr lang="en-US" sz="1300" dirty="0">
                <a:solidFill>
                  <a:srgbClr val="6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acidification suffisante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434840"/>
            <a:ext cx="292608" cy="292608"/>
          </a:xfrm>
          <a:prstGeom prst="ellipse">
            <a:avLst/>
          </a:prstGeom>
          <a:solidFill>
            <a:srgbClr val="6B8E8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434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44074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∈ [1,5 ; 3,5] h⁻¹   </a:t>
            </a:r>
            <a:r>
              <a:rPr lang="en-US" sz="1300" dirty="0">
                <a:solidFill>
                  <a:srgbClr val="6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activité normale des ferments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5001768"/>
            <a:ext cx="292608" cy="292608"/>
          </a:xfrm>
          <a:prstGeom prst="ellipse">
            <a:avLst/>
          </a:prstGeom>
          <a:solidFill>
            <a:srgbClr val="6B8E8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5001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497433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t₀ ∈ [1,5 ; 3,0] h   </a:t>
            </a:r>
            <a:r>
              <a:rPr lang="en-US" sz="1300" dirty="0">
                <a:solidFill>
                  <a:srgbClr val="6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fenêtre de moulage respectée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568696"/>
            <a:ext cx="292608" cy="292608"/>
          </a:xfrm>
          <a:prstGeom prst="ellipse">
            <a:avLst/>
          </a:prstGeom>
          <a:solidFill>
            <a:srgbClr val="6B8E8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568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554126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&gt; 1,0 h⁻¹   </a:t>
            </a:r>
            <a:r>
              <a:rPr lang="en-US" sz="1300" dirty="0">
                <a:solidFill>
                  <a:srgbClr val="6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de croissance active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83680" y="2651760"/>
            <a:ext cx="4937760" cy="34290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0" y="28803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L'ACIDIFICATION CONTRÔLE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0" y="329184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Texture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858000" y="3602736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 rapide → pâte grumeleuse ; trop lente → caillé peu cohésif.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858000" y="420624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Rendement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58000" y="4517136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acidification optimale → expulsion maximale du lactosérum sans sur-acidification.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858000" y="512064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Croûte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858000" y="5431536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bon pH pilote la flore de surface pendant l'affinage.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7A2E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94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7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Faisabilité démontrée, validation à venir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L'ÉTUDE DÉMONTRE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5303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■"/>
            </a:pPr>
            <a:r>
              <a:rPr lang="en-US" sz="135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pipeline reproductible extrait des paramètres quantitatifs de sondes pH low-cost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■"/>
            </a:pPr>
            <a:r>
              <a:rPr lang="en-US" sz="135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modèles s'ajustent bien (R² = 0,83–0,98)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■"/>
            </a:pPr>
            <a:r>
              <a:rPr lang="en-US" sz="135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paramètres (L, k, t₀, μ, α, β) sont physiquement interprétables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■"/>
            </a:pPr>
            <a:r>
              <a:rPr lang="en-US" sz="135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ratio des ferments est le meilleur candidat pour expliquer le rendement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92240" y="2103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ÉTAPES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92240" y="2468880"/>
            <a:ext cx="5029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■"/>
            </a:pPr>
            <a:r>
              <a:rPr lang="en-US" sz="135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3 sessions à dose de ferment contrôlée pour valider la corrélation dose–rendement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■"/>
            </a:pPr>
            <a:r>
              <a:rPr lang="en-US" sz="135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 la synérèse / poids du lactosérum pour la corréler à L et k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■"/>
            </a:pPr>
            <a:r>
              <a:rPr lang="en-US" sz="135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scores sensoriels et texturaux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■"/>
            </a:pPr>
            <a:r>
              <a:rPr lang="en-US" sz="135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 les paramètres LP contre des comptages bactériens (UFC)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7E8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Merci de votre attention — questions 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132320" y="59436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Lilandra Albert-Lavault · Samuele Moungang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A2E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C39901-DBCF-C026-CDDB-3C13778A1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E122C25-0C90-323A-4F51-19307696A50F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1782B6E-8DF7-F209-C9AB-D37F48E7BBE7}"/>
              </a:ext>
            </a:extLst>
          </p:cNvPr>
          <p:cNvSpPr/>
          <p:nvPr/>
        </p:nvSpPr>
        <p:spPr>
          <a:xfrm>
            <a:off x="822960" y="594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500" dirty="0" err="1">
                <a:solidFill>
                  <a:srgbClr val="A7BEAE"/>
                </a:solidFill>
                <a:latin typeface="Calibri"/>
                <a:ea typeface="Calibri"/>
                <a:cs typeface="Calibri"/>
              </a:rPr>
              <a:t>Réferences</a:t>
            </a:r>
            <a:endParaRPr lang="en-US" sz="1600" dirty="0" err="1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9B9F7DB-C761-B93C-EC07-B062A3846C6A}"/>
              </a:ext>
            </a:extLst>
          </p:cNvPr>
          <p:cNvSpPr/>
          <p:nvPr/>
        </p:nvSpPr>
        <p:spPr>
          <a:xfrm>
            <a:off x="930421" y="2146495"/>
            <a:ext cx="10696135" cy="4990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La composition de la pâte de fromage est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principalement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déterminée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par le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taux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de calcium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phosphaté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colloidale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(CCP) qui se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dissout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dans le lait avant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l'écrémage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. La classification des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fromages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selon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leur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pH et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leur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teneur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en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calcium a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été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proposée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par Lawrence, Heap &amp; Gilles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en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1984.</a:t>
            </a:r>
            <a:endParaRPr lang="en-US" sz="1350" dirty="0">
              <a:solidFill>
                <a:schemeClr val="bg1"/>
              </a:solidFill>
              <a:hlinkClick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lang="en-US" dirty="0">
                <a:solidFill>
                  <a:schemeClr val="bg1"/>
                </a:solidFill>
                <a:hlinkClick r:id="rId3"/>
              </a:rPr>
              <a:t>https://www.sciencedirect.com/science/article/pii/S0022030284814861</a:t>
            </a:r>
            <a:endParaRPr lang="en-US" sz="1350">
              <a:solidFill>
                <a:schemeClr val="bg1"/>
              </a:solidFill>
              <a:ea typeface="Calibri"/>
              <a:cs typeface="Calibri"/>
              <a:hlinkClick r:id="rId3"/>
            </a:endParaRPr>
          </a:p>
          <a:p>
            <a:pPr algn="ctr">
              <a:lnSpc>
                <a:spcPct val="105000"/>
              </a:lnSpc>
              <a:spcAft>
                <a:spcPts val="1000"/>
              </a:spcAft>
            </a:pP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lang="en-US" b="1" dirty="0" err="1">
                <a:solidFill>
                  <a:schemeClr val="bg1"/>
                </a:solidFill>
                <a:ea typeface="+mn-lt"/>
                <a:cs typeface="+mn-lt"/>
              </a:rPr>
              <a:t>Rendement</a:t>
            </a:r>
            <a:r>
              <a:rPr lang="en-US" b="1" dirty="0">
                <a:solidFill>
                  <a:schemeClr val="bg1"/>
                </a:solidFill>
                <a:ea typeface="+mn-lt"/>
                <a:cs typeface="+mn-lt"/>
              </a:rPr>
              <a:t> (Yield) :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Un pH optimal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favorise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l'expulsion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du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lactosérum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(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synérèse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) et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maximise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le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rendement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, sans causer de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perte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excessive de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minéraux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(calcium) et de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caséine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dans le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lactosérum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.</a:t>
            </a:r>
          </a:p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lang="en-US" dirty="0">
                <a:solidFill>
                  <a:schemeClr val="bg1"/>
                </a:solidFill>
                <a:ea typeface="+mn-lt"/>
                <a:cs typeface="+mn-lt"/>
                <a:hlinkClick r:id="rId4"/>
              </a:rPr>
              <a:t>https://www.journalofdairyscience.org/article/S0022-0302(89)79247-X/fulltext</a:t>
            </a:r>
            <a:endParaRPr lang="en-US">
              <a:solidFill>
                <a:schemeClr val="bg1"/>
              </a:solidFill>
              <a:hlinkClick r:id="rId4"/>
            </a:endParaRPr>
          </a:p>
          <a:p>
            <a:pPr algn="ctr">
              <a:lnSpc>
                <a:spcPct val="105000"/>
              </a:lnSpc>
              <a:spcAft>
                <a:spcPts val="1000"/>
              </a:spcAft>
            </a:pP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lang="en-US" b="1" dirty="0" err="1">
                <a:solidFill>
                  <a:schemeClr val="bg1"/>
                </a:solidFill>
                <a:ea typeface="+mn-lt"/>
                <a:cs typeface="+mn-lt"/>
              </a:rPr>
              <a:t>Croûte</a:t>
            </a:r>
            <a:r>
              <a:rPr lang="en-US" b="1" dirty="0">
                <a:solidFill>
                  <a:schemeClr val="bg1"/>
                </a:solidFill>
                <a:ea typeface="+mn-lt"/>
                <a:cs typeface="+mn-lt"/>
              </a:rPr>
              <a:t> (Rind) :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Le pH initial (environ 4,6)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favorise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le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développement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de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levures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et de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moisissures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tolérantes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à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l'acide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. En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consommant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le lactate,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ces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micro-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organismes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augmentent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le pH de surface (&gt; 5,8),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permettant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la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colonisation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ultérieure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par des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bactéries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sensibles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à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l'acide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(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corynéformes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)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essentielles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pendant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l'affinage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en-US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lang="en-US" dirty="0">
                <a:solidFill>
                  <a:schemeClr val="bg1"/>
                </a:solidFill>
                <a:ea typeface="+mn-lt"/>
                <a:cs typeface="+mn-l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https://www.mdpi.com/2076-2607/8/9/1266</a:t>
            </a:r>
          </a:p>
          <a:p>
            <a:pPr algn="ctr">
              <a:lnSpc>
                <a:spcPct val="105000"/>
              </a:lnSpc>
              <a:spcAft>
                <a:spcPts val="1000"/>
              </a:spcAft>
            </a:pP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pPr algn="ctr">
              <a:lnSpc>
                <a:spcPct val="105000"/>
              </a:lnSpc>
              <a:spcAft>
                <a:spcPts val="1000"/>
              </a:spcAft>
            </a:pPr>
            <a:endParaRPr lang="en-US" dirty="0">
              <a:solidFill>
                <a:schemeClr val="bg1"/>
              </a:solidFill>
              <a:ea typeface="Calibri"/>
              <a:cs typeface="Calibri"/>
            </a:endParaRPr>
          </a:p>
          <a:p>
            <a:pPr algn="ctr">
              <a:lnSpc>
                <a:spcPct val="105000"/>
              </a:lnSpc>
              <a:spcAft>
                <a:spcPts val="1000"/>
              </a:spcAft>
            </a:pPr>
            <a:endParaRPr lang="en-US" dirty="0">
              <a:solidFill>
                <a:schemeClr val="bg1"/>
              </a:solidFill>
              <a:ea typeface="Calibri"/>
              <a:cs typeface="Calibri"/>
            </a:endParaRPr>
          </a:p>
          <a:p>
            <a:pPr algn="ctr">
              <a:lnSpc>
                <a:spcPct val="105000"/>
              </a:lnSpc>
              <a:spcAft>
                <a:spcPts val="1000"/>
              </a:spcAft>
            </a:pPr>
            <a:endParaRPr lang="en-US" dirty="0">
              <a:solidFill>
                <a:schemeClr val="bg1"/>
              </a:solidFill>
              <a:ea typeface="Calibri"/>
              <a:cs typeface="Calibri"/>
            </a:endParaRPr>
          </a:p>
          <a:p>
            <a:pPr>
              <a:lnSpc>
                <a:spcPct val="105000"/>
              </a:lnSpc>
              <a:spcAft>
                <a:spcPts val="1000"/>
              </a:spcAft>
            </a:pPr>
            <a:endParaRPr lang="en-US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294F65B-06E5-2621-0BD3-6F712924EF14}"/>
              </a:ext>
            </a:extLst>
          </p:cNvPr>
          <p:cNvSpPr/>
          <p:nvPr/>
        </p:nvSpPr>
        <p:spPr>
          <a:xfrm>
            <a:off x="7132320" y="59436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Lilandra Albert-Lavault · Samuele Moungang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0002261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Profils d'Acidification et Qualité du Fromage</dc:title>
  <dc:subject>PptxGenJS Presentation</dc:subject>
  <dc:creator>Lilandra Albert-Lavault &amp; Samuele Moungang</dc:creator>
  <cp:lastModifiedBy>Lilandra Albert-Lavault &amp; Samuele Moungang</cp:lastModifiedBy>
  <cp:revision>62</cp:revision>
  <dcterms:created xsi:type="dcterms:W3CDTF">2026-06-01T18:25:21Z</dcterms:created>
  <dcterms:modified xsi:type="dcterms:W3CDTF">2026-06-05T12:57:28Z</dcterms:modified>
</cp:coreProperties>
</file>